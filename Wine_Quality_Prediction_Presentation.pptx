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ject" id="{029E60D5-7084-5DB5-68D4-3C9BD38DC044}">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41519"/>
                </a:solidFill>
                <a:latin typeface="+mn-lt"/>
              </a:defRPr>
            </a:pPr>
            <a:r>
              <a:rPr sz="1400" b="0" i="0" u="none" strike="noStrike">
                <a:solidFill>
                  <a:srgbClr val="241519"/>
                </a:solidFill>
                <a:latin typeface="+mn-lt"/>
              </a:rPr>
              <a:t>Wines per quality score</a:t>
            </a:r>
          </a:p>
        </c:rich>
      </c:tx>
      <c:overlay val="0"/>
    </c:title>
    <c:autoTitleDeleted val="0"/>
    <c:plotArea>
      <c:layout/>
      <c:barChart>
        <c:barDir val="col"/>
        <c:grouping val="clustered"/>
        <c:varyColors val="0"/>
        <c:ser>
          <c:idx val="0"/>
          <c:order val="0"/>
          <c:tx>
            <c:strRef>
              <c:f>Sheet1!$B$1</c:f>
              <c:strCache>
                <c:ptCount val="1"/>
                <c:pt idx="0">
                  <c:v>Wines</c:v>
                </c:pt>
              </c:strCache>
            </c:strRef>
          </c:tx>
          <c:spPr>
            <a:solidFill>
              <a:srgbClr val="6B1E2E"/>
            </a:solidFill>
            <a:effectLst/>
          </c:spPr>
          <c:invertIfNegative val="0"/>
          <c:dLbls>
            <c:numFmt formatCode="#,##0" sourceLinked="0"/>
            <c:spPr>
              <a:noFill/>
              <a:ln>
                <a:noFill/>
              </a:ln>
              <a:effectLst/>
            </c:spPr>
            <c:txPr>
              <a:bodyPr/>
              <a:lstStyle/>
              <a:p>
                <a:pPr>
                  <a:defRPr sz="1100" b="0" i="0" u="none" strike="noStrike">
                    <a:solidFill>
                      <a:srgbClr val="241519"/>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3</c:v>
                </c:pt>
                <c:pt idx="1">
                  <c:v>4</c:v>
                </c:pt>
                <c:pt idx="2">
                  <c:v>5</c:v>
                </c:pt>
                <c:pt idx="3">
                  <c:v>6</c:v>
                </c:pt>
                <c:pt idx="4">
                  <c:v>7</c:v>
                </c:pt>
                <c:pt idx="5">
                  <c:v>8</c:v>
                </c:pt>
                <c:pt idx="6">
                  <c:v>9</c:v>
                </c:pt>
              </c:strCache>
            </c:strRef>
          </c:cat>
          <c:val>
            <c:numRef>
              <c:f>Sheet1!$B$2:$B$8</c:f>
              <c:numCache>
                <c:formatCode>General</c:formatCode>
                <c:ptCount val="7"/>
                <c:pt idx="0">
                  <c:v>30</c:v>
                </c:pt>
                <c:pt idx="1">
                  <c:v>216</c:v>
                </c:pt>
                <c:pt idx="2">
                  <c:v>2138</c:v>
                </c:pt>
                <c:pt idx="3">
                  <c:v>2836</c:v>
                </c:pt>
                <c:pt idx="4">
                  <c:v>1079</c:v>
                </c:pt>
                <c:pt idx="5">
                  <c:v>193</c:v>
                </c:pt>
                <c:pt idx="6">
                  <c:v>5</c:v>
                </c:pt>
              </c:numCache>
            </c:numRef>
          </c:val>
          <c:extLst>
            <c:ext xmlns:c16="http://schemas.microsoft.com/office/drawing/2014/chart" uri="{C3380CC4-5D6E-409C-BE32-E72D297353CC}">
              <c16:uniqueId val="{00000000-13BD-41B6-98D6-4538F3BF95D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41519"/>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D5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7A7A"/>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41519"/>
                </a:solidFill>
                <a:latin typeface="+mn-lt"/>
              </a:defRPr>
            </a:pPr>
            <a:r>
              <a:rPr sz="1400" b="0" i="0" u="none" strike="noStrike">
                <a:solidFill>
                  <a:srgbClr val="241519"/>
                </a:solidFill>
                <a:latin typeface="+mn-lt"/>
              </a:rPr>
              <a:t>Test MAE by model (lower is better)</a:t>
            </a:r>
          </a:p>
        </c:rich>
      </c:tx>
      <c:overlay val="0"/>
    </c:title>
    <c:autoTitleDeleted val="0"/>
    <c:plotArea>
      <c:layout/>
      <c:barChart>
        <c:barDir val="bar"/>
        <c:grouping val="clustered"/>
        <c:varyColors val="0"/>
        <c:ser>
          <c:idx val="0"/>
          <c:order val="0"/>
          <c:tx>
            <c:strRef>
              <c:f>Sheet1!$B$1</c:f>
              <c:strCache>
                <c:ptCount val="1"/>
                <c:pt idx="0">
                  <c:v>MAE</c:v>
                </c:pt>
              </c:strCache>
            </c:strRef>
          </c:tx>
          <c:spPr>
            <a:solidFill>
              <a:srgbClr val="6B1E2E"/>
            </a:solidFill>
            <a:effectLst/>
          </c:spPr>
          <c:invertIfNegative val="0"/>
          <c:dLbls>
            <c:numFmt formatCode="0.000" sourceLinked="0"/>
            <c:spPr>
              <a:noFill/>
              <a:ln>
                <a:noFill/>
              </a:ln>
              <a:effectLst/>
            </c:spPr>
            <c:txPr>
              <a:bodyPr/>
              <a:lstStyle/>
              <a:p>
                <a:pPr>
                  <a:defRPr sz="1200" b="0" i="0" u="none" strike="noStrike">
                    <a:solidFill>
                      <a:srgbClr val="241519"/>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Mean baseline</c:v>
                </c:pt>
                <c:pt idx="1">
                  <c:v>Linear Reg.</c:v>
                </c:pt>
                <c:pt idx="2">
                  <c:v>Random Forest</c:v>
                </c:pt>
                <c:pt idx="3">
                  <c:v>Tuned XGBoost</c:v>
                </c:pt>
              </c:strCache>
            </c:strRef>
          </c:cat>
          <c:val>
            <c:numRef>
              <c:f>Sheet1!$B$2:$B$5</c:f>
              <c:numCache>
                <c:formatCode>General</c:formatCode>
                <c:ptCount val="4"/>
                <c:pt idx="0">
                  <c:v>0.69499999999999995</c:v>
                </c:pt>
                <c:pt idx="1">
                  <c:v>0.56499999999999995</c:v>
                </c:pt>
                <c:pt idx="2">
                  <c:v>0.53100000000000003</c:v>
                </c:pt>
                <c:pt idx="3">
                  <c:v>0.52400000000000002</c:v>
                </c:pt>
              </c:numCache>
            </c:numRef>
          </c:val>
          <c:extLst>
            <c:ext xmlns:c16="http://schemas.microsoft.com/office/drawing/2014/chart" uri="{C3380CC4-5D6E-409C-BE32-E72D297353CC}">
              <c16:uniqueId val="{00000000-D524-4A72-9C46-B2B079036BF4}"/>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41519"/>
                </a:solidFill>
                <a:latin typeface="+mn-lt"/>
              </a:defRPr>
            </a:pPr>
            <a:endParaRPr lang="en-US"/>
          </a:p>
        </c:txPr>
        <c:crossAx val="2094734552"/>
        <c:crosses val="autoZero"/>
        <c:auto val="1"/>
        <c:lblAlgn val="ctr"/>
        <c:lblOffset val="100"/>
        <c:noMultiLvlLbl val="1"/>
      </c:catAx>
      <c:valAx>
        <c:axId val="2094734552"/>
        <c:scaling>
          <c:orientation val="minMax"/>
          <c:max val="0.9"/>
          <c:min val="0"/>
        </c:scaling>
        <c:delete val="0"/>
        <c:axPos val="t"/>
        <c:majorGridlines>
          <c:spPr>
            <a:ln w="6350" cap="flat">
              <a:solidFill>
                <a:srgbClr val="E5D5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7A7A7A"/>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3237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predicting the quality score of wines from their chemical measurements, built as a regression model and structured by the KDD stages.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Wine quality is scored by human tasters, which is slow, costly and subjective. The goal is to predict that 0-10 score from 11 lab measurements using regression, and to find which properties matter most. Success is measured with MAE, MSE, RMSE and R-squared.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is Cortez et al. (2009) on the UCI repository. Red has 1,599 wines and white has 4,898, combined 6,497. No missing values, but 1,177 duplicate rows were found and removed later. Target is the integer quality score, observed from 3 to 9.</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counts: 3 has 30 wines, 4 has 216, 5 has 2,138, 6 has 2,836, 7 has 1,079, 8 has 193 and 9 has 5. About 77% score 5 or 6. Alcohol has the strongest correlation with quality (+0.44). Preprocessing was done so that nothing from the test set leaks into training: the split came first, and outlier limits and scaling are learned on training data only.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sits in a pipeline with scaling, compared by 5-fold cross-validation on the training set only. The two strongest families (Random Forest and XGBoost) are tuned with RandomizedSearchCV. The test set is scored once at the end. Metrics: MAE is the average miss in quality points; MSE averages squared misses so big errors count more; RMSE is the square root of MSE in quality points; R-squared is the share of variation in quality the model explains.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Test-set results for each model. The dummy model always predicts the average quality and sets the floor. Ridge scored the same as Linear Regression, so it is left off the table. Tree ensembles do better, which shows the chemistry-to-quality link is non-linear. Random Forest and XGBoost end up almost tied after tuning; XGBoost is chosen by a hair.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tuned XGBoost scored on the 1,064 held-out wines: MAE 0.524, MSE 0.460, RMSE 0.678, R-squared 0.407. That is a 24.5% lower MAE than always guessing the average (0.695). Rounded to the nearest score it is exactly right 55.6% of the time and within one point 97.3% of the 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plot: predicted vs actual quality, points near the dashed line are accurate. Middle: errors are centred on zero. Right: error by true score. Average error is about 0.4 for scores 5 and 6 but 2.2 for score 3 and 3.5 for score 9, because those classes are very rare and the model pulls them toward the middle. Permutation importance: alcohol 0.22, free sulfur dioxide 0.11, volatile acidity 0.10. R-squared stays around 0.4 because taste is subjective and grape type, brand and the tasters are not in the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moderate but useful accuracy, non-linear models win, alcohol is the key driver. Be honest that R-squared is about 0.4 because quality is a subjective score. Mention the limitations and the next steps.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6B1E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6B1E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7863840" cy="13716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7863840" cy="1371600"/>
          </a:xfrm>
          <a:prstGeom prst="rect">
            <a:avLst/>
          </a:prstGeom>
          <a:noFill/>
          <a:ln/>
        </p:spPr>
        <p:txBody>
          <a:bodyPr wrap="square" lIns="0" tIns="0" rIns="0" bIns="0" rtlCol="0" anchor="ctr"/>
          <a:lstStyle/>
          <a:p>
            <a:pPr marL="0" indent="0" algn="l">
              <a:buNone/>
            </a:pPr>
            <a:r>
              <a:rPr lang="en-US" sz="4000" b="1" dirty="0">
                <a:solidFill>
                  <a:schemeClr val="bg1"/>
                </a:solidFill>
              </a:rPr>
              <a:t>Wine Quality Prediction Using Machine Learning</a:t>
            </a:r>
            <a:endParaRPr lang="en-US" sz="4000" dirty="0"/>
          </a:p>
        </p:txBody>
      </p:sp>
      <p:sp>
        <p:nvSpPr>
          <p:cNvPr id="3" name="Text 1"/>
          <p:cNvSpPr txBox="1"/>
          <p:nvPr/>
        </p:nvSpPr>
        <p:spPr>
          <a:xfrm>
            <a:off x="640080" y="822960"/>
            <a:ext cx="7863840" cy="274320"/>
          </a:xfrm>
          <a:prstGeom prst="rect">
            <a:avLst/>
          </a:prstGeom>
          <a:noFill/>
          <a:ln/>
        </p:spPr>
        <p:txBody>
          <a:bodyPr wrap="square" lIns="0" tIns="0" rIns="0" bIns="0" rtlCol="0" anchor="t"/>
          <a:lstStyle/>
          <a:p>
            <a:pPr marL="0" indent="0">
              <a:buNone/>
            </a:pPr>
            <a:r>
              <a:rPr lang="en-US" sz="1400" b="1" kern="0" spc="300" dirty="0">
                <a:solidFill>
                  <a:schemeClr val="accent2"/>
                </a:solidFill>
              </a:rPr>
              <a:t>PREDICTIVE ANALYTICS  |  KDD METHODOLOGY</a:t>
            </a:r>
            <a:endParaRPr lang="en-US" sz="1400" dirty="0"/>
          </a:p>
        </p:txBody>
      </p:sp>
      <p:sp>
        <p:nvSpPr>
          <p:cNvPr id="4" name="Text 2"/>
          <p:cNvSpPr txBox="1"/>
          <p:nvPr/>
        </p:nvSpPr>
        <p:spPr>
          <a:xfrm>
            <a:off x="640080" y="2926080"/>
            <a:ext cx="7863840" cy="731520"/>
          </a:xfrm>
          <a:prstGeom prst="rect">
            <a:avLst/>
          </a:prstGeom>
          <a:noFill/>
          <a:ln/>
        </p:spPr>
        <p:txBody>
          <a:bodyPr wrap="square" lIns="0" tIns="0" rIns="0" bIns="0" rtlCol="0" anchor="t"/>
          <a:lstStyle/>
          <a:p>
            <a:pPr marL="0" indent="0">
              <a:buNone/>
            </a:pPr>
            <a:r>
              <a:rPr lang="en-US" sz="1800" dirty="0">
                <a:solidFill>
                  <a:schemeClr val="bg2"/>
                </a:solidFill>
              </a:rPr>
              <a:t>End-to-End Predictive Model Development (CA3)</a:t>
            </a:r>
            <a:endParaRPr lang="en-US" sz="1800" dirty="0"/>
          </a:p>
          <a:p>
            <a:pPr marL="0" indent="0">
              <a:buNone/>
            </a:pPr>
            <a:r>
              <a:rPr lang="en-US" sz="1800" dirty="0">
                <a:solidFill>
                  <a:schemeClr val="bg2"/>
                </a:solidFill>
              </a:rPr>
              <a:t>Dataset: UCI Wine Quality, red and white vinho verde</a:t>
            </a:r>
            <a:endParaRPr lang="en-US" sz="1800" dirty="0"/>
          </a:p>
        </p:txBody>
      </p:sp>
      <p:sp>
        <p:nvSpPr>
          <p:cNvPr id="5" name="Text 3"/>
          <p:cNvSpPr txBox="1"/>
          <p:nvPr/>
        </p:nvSpPr>
        <p:spPr>
          <a:xfrm>
            <a:off x="640080" y="3931920"/>
            <a:ext cx="7863840" cy="640080"/>
          </a:xfrm>
          <a:prstGeom prst="rect">
            <a:avLst/>
          </a:prstGeom>
          <a:noFill/>
          <a:ln/>
        </p:spPr>
        <p:txBody>
          <a:bodyPr wrap="square" lIns="0" tIns="0" rIns="0" bIns="0" rtlCol="0" anchor="t"/>
          <a:lstStyle/>
          <a:p>
            <a:pPr marL="0" indent="0">
              <a:buNone/>
            </a:pPr>
            <a:r>
              <a:rPr lang="en-US" sz="1600" b="1" dirty="0">
                <a:solidFill>
                  <a:schemeClr val="bg1"/>
                </a:solidFill>
              </a:rPr>
              <a:t>Vansh Gupta </a:t>
            </a:r>
            <a:br>
              <a:rPr lang="en-US" sz="1600" b="1" dirty="0">
                <a:solidFill>
                  <a:schemeClr val="bg1"/>
                </a:solidFill>
              </a:rPr>
            </a:br>
            <a:r>
              <a:rPr lang="en-US" sz="1600" b="1" dirty="0">
                <a:solidFill>
                  <a:schemeClr val="bg1"/>
                </a:solidFill>
              </a:rPr>
              <a:t>23070521166</a:t>
            </a:r>
            <a:endParaRPr lang="en-US" sz="1600" dirty="0"/>
          </a:p>
          <a:p>
            <a:pPr marL="0" indent="0">
              <a:buNone/>
            </a:pPr>
            <a:r>
              <a:rPr lang="en-US" sz="1600" b="1" dirty="0">
                <a:solidFill>
                  <a:schemeClr val="bg1"/>
                </a:solidFill>
              </a:rPr>
              <a:t>Symbiosis Institute of Technology, Nagpur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ctr"/>
          <a:lstStyle/>
          <a:p>
            <a:pPr marL="0" indent="0" algn="l">
              <a:buNone/>
            </a:pPr>
            <a:r>
              <a:rPr lang="en-US" sz="3200" b="1" dirty="0">
                <a:solidFill>
                  <a:schemeClr val="tx2"/>
                </a:solidFill>
              </a:rPr>
              <a:t>Problem Statement</a:t>
            </a:r>
            <a:endParaRPr lang="en-US" sz="3200" dirty="0"/>
          </a:p>
        </p:txBody>
      </p:sp>
      <p:sp>
        <p:nvSpPr>
          <p:cNvPr id="3" name="Text 1"/>
          <p:cNvSpPr txBox="1"/>
          <p:nvPr/>
        </p:nvSpPr>
        <p:spPr>
          <a:xfrm>
            <a:off x="457200" y="868680"/>
            <a:ext cx="8229600" cy="320040"/>
          </a:xfrm>
          <a:prstGeom prst="rect">
            <a:avLst/>
          </a:prstGeom>
          <a:noFill/>
          <a:ln/>
        </p:spPr>
        <p:txBody>
          <a:bodyPr wrap="square" lIns="0" tIns="0" rIns="0" bIns="0" rtlCol="0" anchor="t"/>
          <a:lstStyle/>
          <a:p>
            <a:pPr marL="0" indent="0">
              <a:buNone/>
            </a:pPr>
            <a:r>
              <a:rPr lang="en-US" sz="1600" i="1" dirty="0">
                <a:solidFill>
                  <a:schemeClr val="accent3"/>
                </a:solidFill>
              </a:rPr>
              <a:t>Can a wine's chemistry predict how it tastes?</a:t>
            </a:r>
            <a:endParaRPr lang="en-US" sz="1600" dirty="0"/>
          </a:p>
        </p:txBody>
      </p:sp>
      <p:sp>
        <p:nvSpPr>
          <p:cNvPr id="5" name="Text 2"/>
          <p:cNvSpPr txBox="1"/>
          <p:nvPr/>
        </p:nvSpPr>
        <p:spPr>
          <a:xfrm>
            <a:off x="457200" y="1463040"/>
            <a:ext cx="4846320" cy="29260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Quality of vinho verde wines is rated by tasters on a 0-10 scale: slow, costly and subjective</a:t>
            </a:r>
            <a:endParaRPr lang="en-US" sz="1800" dirty="0"/>
          </a:p>
          <a:p>
            <a:pPr marL="342900" indent="-342900">
              <a:spcAft>
                <a:spcPts val="1000"/>
              </a:spcAft>
              <a:buSzPct val="100000"/>
              <a:buChar char="•"/>
            </a:pPr>
            <a:r>
              <a:rPr lang="en-US" sz="1800" dirty="0">
                <a:solidFill>
                  <a:schemeClr val="tx1"/>
                </a:solidFill>
              </a:rPr>
              <a:t>Objective: predict that score from 11 lab measurements (a regression problem)</a:t>
            </a:r>
            <a:endParaRPr lang="en-US" sz="1800" dirty="0"/>
          </a:p>
          <a:p>
            <a:pPr marL="342900" indent="-342900">
              <a:spcAft>
                <a:spcPts val="1000"/>
              </a:spcAft>
              <a:buSzPct val="100000"/>
              <a:buChar char="•"/>
            </a:pPr>
            <a:r>
              <a:rPr lang="en-US" sz="1800" dirty="0">
                <a:solidFill>
                  <a:schemeClr val="tx1"/>
                </a:solidFill>
              </a:rPr>
              <a:t>Second goal: find which properties drive quality</a:t>
            </a:r>
            <a:endParaRPr lang="en-US" sz="1800" dirty="0"/>
          </a:p>
          <a:p>
            <a:pPr marL="342900" indent="-342900">
              <a:spcAft>
                <a:spcPts val="1000"/>
              </a:spcAft>
              <a:buSzPct val="100000"/>
              <a:buChar char="•"/>
            </a:pPr>
            <a:r>
              <a:rPr lang="en-US" sz="1800" dirty="0">
                <a:solidFill>
                  <a:schemeClr val="tx1"/>
                </a:solidFill>
              </a:rPr>
              <a:t>Judged with MAE, MSE, RMSE and R²</a:t>
            </a:r>
            <a:endParaRPr lang="en-US" sz="1800" dirty="0"/>
          </a:p>
        </p:txBody>
      </p:sp>
      <p:sp>
        <p:nvSpPr>
          <p:cNvPr id="6" name="stat0"/>
          <p:cNvSpPr/>
          <p:nvPr/>
        </p:nvSpPr>
        <p:spPr>
          <a:xfrm>
            <a:off x="5669280" y="1463040"/>
            <a:ext cx="3017520" cy="896112"/>
          </a:xfrm>
          <a:prstGeom prst="roundRect">
            <a:avLst>
              <a:gd name="adj" fmla="val 8163"/>
            </a:avLst>
          </a:prstGeom>
          <a:solidFill>
            <a:schemeClr val="bg2"/>
          </a:solidFill>
          <a:ln w="12700">
            <a:solidFill>
              <a:schemeClr val="bg2"/>
            </a:solidFill>
            <a:prstDash val="solid"/>
          </a:ln>
        </p:spPr>
      </p:sp>
      <p:sp>
        <p:nvSpPr>
          <p:cNvPr id="7" name="Text 4"/>
          <p:cNvSpPr txBox="1"/>
          <p:nvPr/>
        </p:nvSpPr>
        <p:spPr>
          <a:xfrm>
            <a:off x="5806440" y="1463040"/>
            <a:ext cx="1371600" cy="896112"/>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6,497</a:t>
            </a:r>
            <a:endParaRPr lang="en-US" sz="3200" dirty="0"/>
          </a:p>
        </p:txBody>
      </p:sp>
      <p:sp>
        <p:nvSpPr>
          <p:cNvPr id="8" name="Text 5"/>
          <p:cNvSpPr txBox="1"/>
          <p:nvPr/>
        </p:nvSpPr>
        <p:spPr>
          <a:xfrm>
            <a:off x="7178040" y="1463040"/>
            <a:ext cx="1417320" cy="896112"/>
          </a:xfrm>
          <a:prstGeom prst="rect">
            <a:avLst/>
          </a:prstGeom>
          <a:noFill/>
          <a:ln/>
        </p:spPr>
        <p:txBody>
          <a:bodyPr wrap="square" lIns="0" tIns="0" rIns="0" bIns="0" rtlCol="0" anchor="ctr"/>
          <a:lstStyle/>
          <a:p>
            <a:pPr marL="0" indent="0">
              <a:buNone/>
            </a:pPr>
            <a:r>
              <a:rPr lang="en-US" sz="1400" dirty="0">
                <a:solidFill>
                  <a:schemeClr val="tx1"/>
                </a:solidFill>
              </a:rPr>
              <a:t>wines in the data</a:t>
            </a:r>
            <a:endParaRPr lang="en-US" sz="1400" dirty="0"/>
          </a:p>
        </p:txBody>
      </p:sp>
      <p:sp>
        <p:nvSpPr>
          <p:cNvPr id="9" name="stat1"/>
          <p:cNvSpPr/>
          <p:nvPr/>
        </p:nvSpPr>
        <p:spPr>
          <a:xfrm>
            <a:off x="5669280" y="2487168"/>
            <a:ext cx="3017520" cy="896112"/>
          </a:xfrm>
          <a:prstGeom prst="roundRect">
            <a:avLst>
              <a:gd name="adj" fmla="val 8163"/>
            </a:avLst>
          </a:prstGeom>
          <a:solidFill>
            <a:schemeClr val="bg2"/>
          </a:solidFill>
          <a:ln w="12700">
            <a:solidFill>
              <a:schemeClr val="bg2"/>
            </a:solidFill>
            <a:prstDash val="solid"/>
          </a:ln>
        </p:spPr>
      </p:sp>
      <p:sp>
        <p:nvSpPr>
          <p:cNvPr id="10" name="Text 7"/>
          <p:cNvSpPr txBox="1"/>
          <p:nvPr/>
        </p:nvSpPr>
        <p:spPr>
          <a:xfrm>
            <a:off x="5806440" y="2487168"/>
            <a:ext cx="1371600" cy="896112"/>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11</a:t>
            </a:r>
            <a:endParaRPr lang="en-US" sz="3200" dirty="0"/>
          </a:p>
        </p:txBody>
      </p:sp>
      <p:sp>
        <p:nvSpPr>
          <p:cNvPr id="11" name="Text 8"/>
          <p:cNvSpPr txBox="1"/>
          <p:nvPr/>
        </p:nvSpPr>
        <p:spPr>
          <a:xfrm>
            <a:off x="7178040" y="2487168"/>
            <a:ext cx="1417320" cy="896112"/>
          </a:xfrm>
          <a:prstGeom prst="rect">
            <a:avLst/>
          </a:prstGeom>
          <a:noFill/>
          <a:ln/>
        </p:spPr>
        <p:txBody>
          <a:bodyPr wrap="square" lIns="0" tIns="0" rIns="0" bIns="0" rtlCol="0" anchor="ctr"/>
          <a:lstStyle/>
          <a:p>
            <a:pPr marL="0" indent="0">
              <a:buNone/>
            </a:pPr>
            <a:r>
              <a:rPr lang="en-US" sz="1400" dirty="0">
                <a:solidFill>
                  <a:schemeClr val="tx1"/>
                </a:solidFill>
              </a:rPr>
              <a:t>chemical inputs per wine</a:t>
            </a:r>
            <a:endParaRPr lang="en-US" sz="1400" dirty="0"/>
          </a:p>
        </p:txBody>
      </p:sp>
      <p:sp>
        <p:nvSpPr>
          <p:cNvPr id="12" name="stat2"/>
          <p:cNvSpPr/>
          <p:nvPr/>
        </p:nvSpPr>
        <p:spPr>
          <a:xfrm>
            <a:off x="5669280" y="3511296"/>
            <a:ext cx="3017520" cy="896112"/>
          </a:xfrm>
          <a:prstGeom prst="roundRect">
            <a:avLst>
              <a:gd name="adj" fmla="val 8163"/>
            </a:avLst>
          </a:prstGeom>
          <a:solidFill>
            <a:schemeClr val="bg2"/>
          </a:solidFill>
          <a:ln w="12700">
            <a:solidFill>
              <a:schemeClr val="bg2"/>
            </a:solidFill>
            <a:prstDash val="solid"/>
          </a:ln>
        </p:spPr>
      </p:sp>
      <p:sp>
        <p:nvSpPr>
          <p:cNvPr id="13" name="Text 10"/>
          <p:cNvSpPr txBox="1"/>
          <p:nvPr/>
        </p:nvSpPr>
        <p:spPr>
          <a:xfrm>
            <a:off x="5806440" y="3511296"/>
            <a:ext cx="1371600" cy="896112"/>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0-10</a:t>
            </a:r>
            <a:endParaRPr lang="en-US" sz="3200" dirty="0"/>
          </a:p>
        </p:txBody>
      </p:sp>
      <p:sp>
        <p:nvSpPr>
          <p:cNvPr id="14" name="Text 11"/>
          <p:cNvSpPr txBox="1"/>
          <p:nvPr/>
        </p:nvSpPr>
        <p:spPr>
          <a:xfrm>
            <a:off x="7178040" y="3511296"/>
            <a:ext cx="1417320" cy="896112"/>
          </a:xfrm>
          <a:prstGeom prst="rect">
            <a:avLst/>
          </a:prstGeom>
          <a:noFill/>
          <a:ln/>
        </p:spPr>
        <p:txBody>
          <a:bodyPr wrap="square" lIns="0" tIns="0" rIns="0" bIns="0" rtlCol="0" anchor="ctr"/>
          <a:lstStyle/>
          <a:p>
            <a:pPr marL="0" indent="0">
              <a:buNone/>
            </a:pPr>
            <a:r>
              <a:rPr lang="en-US" sz="1400" dirty="0">
                <a:solidFill>
                  <a:schemeClr val="tx1"/>
                </a:solidFill>
              </a:rPr>
              <a:t>quality score to predict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ctr"/>
          <a:lstStyle/>
          <a:p>
            <a:pPr marL="0" indent="0" algn="l">
              <a:buNone/>
            </a:pPr>
            <a:r>
              <a:rPr lang="en-US" sz="3200" b="1" dirty="0">
                <a:solidFill>
                  <a:schemeClr val="tx2"/>
                </a:solidFill>
              </a:rPr>
              <a:t>Dataset</a:t>
            </a:r>
            <a:endParaRPr lang="en-US" sz="3200" dirty="0"/>
          </a:p>
        </p:txBody>
      </p:sp>
      <p:sp>
        <p:nvSpPr>
          <p:cNvPr id="3" name="Text 1"/>
          <p:cNvSpPr txBox="1"/>
          <p:nvPr/>
        </p:nvSpPr>
        <p:spPr>
          <a:xfrm>
            <a:off x="457200" y="868680"/>
            <a:ext cx="8229600" cy="320040"/>
          </a:xfrm>
          <a:prstGeom prst="rect">
            <a:avLst/>
          </a:prstGeom>
          <a:noFill/>
          <a:ln/>
        </p:spPr>
        <p:txBody>
          <a:bodyPr wrap="square" lIns="0" tIns="0" rIns="0" bIns="0" rtlCol="0" anchor="t"/>
          <a:lstStyle/>
          <a:p>
            <a:pPr marL="0" indent="0">
              <a:buNone/>
            </a:pPr>
            <a:r>
              <a:rPr lang="en-US" sz="1600" i="1" dirty="0">
                <a:solidFill>
                  <a:schemeClr val="accent3"/>
                </a:solidFill>
              </a:rPr>
              <a:t>UCI Wine Quality: two files, eleven measurements per wine</a:t>
            </a:r>
            <a:endParaRPr lang="en-US" sz="1600" dirty="0"/>
          </a:p>
        </p:txBody>
      </p:sp>
      <p:graphicFrame>
        <p:nvGraphicFramePr>
          <p:cNvPr id="4" name="dataset table"/>
          <p:cNvGraphicFramePr>
            <a:graphicFrameLocks noGrp="1"/>
          </p:cNvGraphicFramePr>
          <p:nvPr>
            <p:extLst>
              <p:ext uri="{D42A27DB-BD31-4B8C-83A1-F6EECF244321}">
                <p14:modId xmlns:p14="http://schemas.microsoft.com/office/powerpoint/2010/main" val="1579011935"/>
              </p:ext>
            </p:extLst>
          </p:nvPr>
        </p:nvGraphicFramePr>
        <p:xfrm>
          <a:off x="457200" y="1463040"/>
          <a:ext cx="512064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411480">
                <a:tc>
                  <a:txBody>
                    <a:bodyPr/>
                    <a:lstStyle/>
                    <a:p>
                      <a:pPr marL="0" indent="0">
                        <a:buNone/>
                      </a:pPr>
                      <a:r>
                        <a:rPr lang="en-US" sz="1400" b="1" dirty="0">
                          <a:solidFill>
                            <a:srgbClr val="FFFFFF"/>
                          </a:solidFill>
                        </a:rPr>
                        <a:t>Attribute</a:t>
                      </a:r>
                      <a:endParaRPr lang="en-US" sz="14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6B1E2E"/>
                    </a:solidFill>
                  </a:tcPr>
                </a:tc>
                <a:tc>
                  <a:txBody>
                    <a:bodyPr/>
                    <a:lstStyle/>
                    <a:p>
                      <a:pPr marL="0" indent="0">
                        <a:buNone/>
                      </a:pPr>
                      <a:r>
                        <a:rPr lang="en-US" sz="1400" b="1" dirty="0">
                          <a:solidFill>
                            <a:srgbClr val="FFFFFF"/>
                          </a:solidFill>
                        </a:rPr>
                        <a:t>Detail</a:t>
                      </a:r>
                      <a:endParaRPr lang="en-US" sz="14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6B1E2E"/>
                    </a:solidFill>
                  </a:tcPr>
                </a:tc>
                <a:extLst>
                  <a:ext uri="{0D108BD9-81ED-4DB2-BD59-A6C34878D82A}">
                    <a16:rowId xmlns:a16="http://schemas.microsoft.com/office/drawing/2014/main" val="10000"/>
                  </a:ext>
                </a:extLst>
              </a:tr>
              <a:tr h="411480">
                <a:tc>
                  <a:txBody>
                    <a:bodyPr/>
                    <a:lstStyle/>
                    <a:p>
                      <a:pPr marL="0" indent="0">
                        <a:buNone/>
                      </a:pPr>
                      <a:r>
                        <a:rPr lang="en-US" sz="1400" b="1" dirty="0">
                          <a:solidFill>
                            <a:srgbClr val="000000"/>
                          </a:solidFill>
                        </a:rPr>
                        <a:t>Source</a:t>
                      </a:r>
                      <a:endParaRPr lang="en-US" sz="14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tcPr>
                </a:tc>
                <a:tc>
                  <a:txBody>
                    <a:bodyPr/>
                    <a:lstStyle/>
                    <a:p>
                      <a:pPr marL="0" indent="0">
                        <a:buNone/>
                      </a:pPr>
                      <a:r>
                        <a:rPr lang="en-US" sz="1400" dirty="0">
                          <a:solidFill>
                            <a:srgbClr val="000000"/>
                          </a:solidFill>
                        </a:rPr>
                        <a:t>UCI repository (Cortez et al., 2009)</a:t>
                      </a:r>
                      <a:endParaRPr lang="en-US" sz="14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400" b="1" dirty="0">
                          <a:solidFill>
                            <a:srgbClr val="000000"/>
                          </a:solidFill>
                        </a:rPr>
                        <a:t>Samples</a:t>
                      </a:r>
                      <a:endParaRPr lang="en-US" sz="14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tcPr>
                </a:tc>
                <a:tc>
                  <a:txBody>
                    <a:bodyPr/>
                    <a:lstStyle/>
                    <a:p>
                      <a:pPr marL="0" indent="0">
                        <a:buNone/>
                      </a:pPr>
                      <a:r>
                        <a:rPr lang="en-US" sz="1400" dirty="0">
                          <a:solidFill>
                            <a:srgbClr val="000000"/>
                          </a:solidFill>
                        </a:rPr>
                        <a:t>1,599 red + 4,898 white = 6,497</a:t>
                      </a:r>
                      <a:endParaRPr lang="en-US" sz="14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400" b="1" dirty="0">
                          <a:solidFill>
                            <a:srgbClr val="000000"/>
                          </a:solidFill>
                        </a:rPr>
                        <a:t>Inputs</a:t>
                      </a:r>
                      <a:endParaRPr lang="en-US" sz="14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tcPr>
                </a:tc>
                <a:tc>
                  <a:txBody>
                    <a:bodyPr/>
                    <a:lstStyle/>
                    <a:p>
                      <a:pPr marL="0" indent="0">
                        <a:buNone/>
                      </a:pPr>
                      <a:r>
                        <a:rPr lang="en-US" sz="1400" dirty="0">
                          <a:solidFill>
                            <a:srgbClr val="000000"/>
                          </a:solidFill>
                        </a:rPr>
                        <a:t>11 physicochemical measurements</a:t>
                      </a:r>
                      <a:endParaRPr lang="en-US" sz="14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400" b="1" dirty="0">
                          <a:solidFill>
                            <a:srgbClr val="000000"/>
                          </a:solidFill>
                        </a:rPr>
                        <a:t>Target</a:t>
                      </a:r>
                      <a:endParaRPr lang="en-US" sz="14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tcPr>
                </a:tc>
                <a:tc>
                  <a:txBody>
                    <a:bodyPr/>
                    <a:lstStyle/>
                    <a:p>
                      <a:pPr marL="0" indent="0">
                        <a:buNone/>
                      </a:pPr>
                      <a:r>
                        <a:rPr lang="en-US" sz="1400" dirty="0">
                          <a:solidFill>
                            <a:srgbClr val="000000"/>
                          </a:solidFill>
                        </a:rPr>
                        <a:t>quality score (3 to 9 observed)</a:t>
                      </a:r>
                      <a:endParaRPr lang="en-US" sz="14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400" b="1" dirty="0">
                          <a:solidFill>
                            <a:srgbClr val="000000"/>
                          </a:solidFill>
                        </a:rPr>
                        <a:t>Missing values</a:t>
                      </a:r>
                      <a:endParaRPr lang="en-US" sz="14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tcPr>
                </a:tc>
                <a:tc>
                  <a:txBody>
                    <a:bodyPr/>
                    <a:lstStyle/>
                    <a:p>
                      <a:pPr marL="0" indent="0">
                        <a:buNone/>
                      </a:pPr>
                      <a:r>
                        <a:rPr lang="en-US" sz="1400" dirty="0">
                          <a:solidFill>
                            <a:srgbClr val="000000"/>
                          </a:solidFill>
                        </a:rPr>
                        <a:t>None</a:t>
                      </a:r>
                      <a:endParaRPr lang="en-US" sz="14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tcPr>
                </a:tc>
                <a:extLst>
                  <a:ext uri="{0D108BD9-81ED-4DB2-BD59-A6C34878D82A}">
                    <a16:rowId xmlns:a16="http://schemas.microsoft.com/office/drawing/2014/main" val="10005"/>
                  </a:ext>
                </a:extLst>
              </a:tr>
              <a:tr h="411480">
                <a:tc>
                  <a:txBody>
                    <a:bodyPr/>
                    <a:lstStyle/>
                    <a:p>
                      <a:pPr marL="0" indent="0">
                        <a:buNone/>
                      </a:pPr>
                      <a:r>
                        <a:rPr lang="en-US" sz="1400" b="1" dirty="0">
                          <a:solidFill>
                            <a:srgbClr val="000000"/>
                          </a:solidFill>
                        </a:rPr>
                        <a:t>Duplicates</a:t>
                      </a:r>
                      <a:endParaRPr lang="en-US" sz="14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tcPr>
                </a:tc>
                <a:tc>
                  <a:txBody>
                    <a:bodyPr/>
                    <a:lstStyle/>
                    <a:p>
                      <a:pPr marL="0" indent="0">
                        <a:buNone/>
                      </a:pPr>
                      <a:r>
                        <a:rPr lang="en-US" sz="1400" dirty="0">
                          <a:solidFill>
                            <a:srgbClr val="000000"/>
                          </a:solidFill>
                        </a:rPr>
                        <a:t>1,177 rows; 5,320 kept</a:t>
                      </a:r>
                      <a:endParaRPr lang="en-US" sz="14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features card"/>
          <p:cNvSpPr/>
          <p:nvPr/>
        </p:nvSpPr>
        <p:spPr>
          <a:xfrm>
            <a:off x="5852160" y="1463040"/>
            <a:ext cx="2834640" cy="3017520"/>
          </a:xfrm>
          <a:prstGeom prst="roundRect">
            <a:avLst>
              <a:gd name="adj" fmla="val 2581"/>
            </a:avLst>
          </a:prstGeom>
          <a:solidFill>
            <a:schemeClr val="bg2"/>
          </a:solidFill>
          <a:ln w="12700">
            <a:solidFill>
              <a:schemeClr val="bg2"/>
            </a:solidFill>
            <a:prstDash val="solid"/>
          </a:ln>
        </p:spPr>
      </p:sp>
      <p:sp>
        <p:nvSpPr>
          <p:cNvPr id="7" name="Text 3"/>
          <p:cNvSpPr txBox="1"/>
          <p:nvPr/>
        </p:nvSpPr>
        <p:spPr>
          <a:xfrm>
            <a:off x="6035040" y="1572768"/>
            <a:ext cx="2560320" cy="274320"/>
          </a:xfrm>
          <a:prstGeom prst="rect">
            <a:avLst/>
          </a:prstGeom>
          <a:noFill/>
          <a:ln/>
        </p:spPr>
        <p:txBody>
          <a:bodyPr wrap="square" lIns="0" tIns="0" rIns="0" bIns="0" rtlCol="0" anchor="t"/>
          <a:lstStyle/>
          <a:p>
            <a:pPr marL="0" indent="0">
              <a:buNone/>
            </a:pPr>
            <a:r>
              <a:rPr lang="en-US" sz="1600" b="1" dirty="0">
                <a:solidFill>
                  <a:schemeClr val="tx2"/>
                </a:solidFill>
              </a:rPr>
              <a:t>11 input features</a:t>
            </a:r>
            <a:endParaRPr lang="en-US" sz="1600" dirty="0"/>
          </a:p>
        </p:txBody>
      </p:sp>
      <p:sp>
        <p:nvSpPr>
          <p:cNvPr id="8" name="Text 4"/>
          <p:cNvSpPr txBox="1"/>
          <p:nvPr/>
        </p:nvSpPr>
        <p:spPr>
          <a:xfrm>
            <a:off x="6035040" y="1920240"/>
            <a:ext cx="2560320" cy="2468880"/>
          </a:xfrm>
          <a:prstGeom prst="rect">
            <a:avLst/>
          </a:prstGeom>
          <a:noFill/>
          <a:ln/>
        </p:spPr>
        <p:txBody>
          <a:bodyPr wrap="square" lIns="0" tIns="0" rIns="0" bIns="0" rtlCol="0" anchor="t"/>
          <a:lstStyle/>
          <a:p>
            <a:pPr marL="0" indent="0">
              <a:buNone/>
            </a:pPr>
            <a:r>
              <a:rPr lang="en-US" sz="1400" dirty="0">
                <a:solidFill>
                  <a:schemeClr val="tx1"/>
                </a:solidFill>
              </a:rPr>
              <a:t>fixed acidity</a:t>
            </a:r>
            <a:endParaRPr lang="en-US" sz="1400" dirty="0"/>
          </a:p>
          <a:p>
            <a:pPr marL="0" indent="0">
              <a:buNone/>
            </a:pPr>
            <a:r>
              <a:rPr lang="en-US" sz="1400" dirty="0">
                <a:solidFill>
                  <a:schemeClr val="tx1"/>
                </a:solidFill>
              </a:rPr>
              <a:t>volatile acidity</a:t>
            </a:r>
            <a:endParaRPr lang="en-US" sz="1400" dirty="0"/>
          </a:p>
          <a:p>
            <a:pPr marL="0" indent="0">
              <a:buNone/>
            </a:pPr>
            <a:r>
              <a:rPr lang="en-US" sz="1400" dirty="0">
                <a:solidFill>
                  <a:schemeClr val="tx1"/>
                </a:solidFill>
              </a:rPr>
              <a:t>citric acid</a:t>
            </a:r>
            <a:endParaRPr lang="en-US" sz="1400" dirty="0"/>
          </a:p>
          <a:p>
            <a:pPr marL="0" indent="0">
              <a:buNone/>
            </a:pPr>
            <a:r>
              <a:rPr lang="en-US" sz="1400" dirty="0">
                <a:solidFill>
                  <a:schemeClr val="tx1"/>
                </a:solidFill>
              </a:rPr>
              <a:t>residual sugar</a:t>
            </a:r>
            <a:endParaRPr lang="en-US" sz="1400" dirty="0"/>
          </a:p>
          <a:p>
            <a:pPr marL="0" indent="0">
              <a:buNone/>
            </a:pPr>
            <a:r>
              <a:rPr lang="en-US" sz="1400" dirty="0">
                <a:solidFill>
                  <a:schemeClr val="tx1"/>
                </a:solidFill>
              </a:rPr>
              <a:t>chlorides</a:t>
            </a:r>
            <a:endParaRPr lang="en-US" sz="1400" dirty="0"/>
          </a:p>
          <a:p>
            <a:pPr marL="0" indent="0">
              <a:buNone/>
            </a:pPr>
            <a:r>
              <a:rPr lang="en-US" sz="1400" dirty="0">
                <a:solidFill>
                  <a:schemeClr val="tx1"/>
                </a:solidFill>
              </a:rPr>
              <a:t>free sulfur dioxide</a:t>
            </a:r>
            <a:endParaRPr lang="en-US" sz="1400" dirty="0"/>
          </a:p>
          <a:p>
            <a:pPr marL="0" indent="0">
              <a:buNone/>
            </a:pPr>
            <a:r>
              <a:rPr lang="en-US" sz="1400" dirty="0">
                <a:solidFill>
                  <a:schemeClr val="tx1"/>
                </a:solidFill>
              </a:rPr>
              <a:t>total sulfur dioxide</a:t>
            </a:r>
            <a:endParaRPr lang="en-US" sz="1400" dirty="0"/>
          </a:p>
          <a:p>
            <a:pPr marL="0" indent="0">
              <a:buNone/>
            </a:pPr>
            <a:r>
              <a:rPr lang="en-US" sz="1400" dirty="0">
                <a:solidFill>
                  <a:schemeClr val="tx1"/>
                </a:solidFill>
              </a:rPr>
              <a:t>density</a:t>
            </a:r>
            <a:endParaRPr lang="en-US" sz="1400" dirty="0"/>
          </a:p>
          <a:p>
            <a:pPr marL="0" indent="0">
              <a:buNone/>
            </a:pPr>
            <a:r>
              <a:rPr lang="en-US" sz="1400" dirty="0">
                <a:solidFill>
                  <a:schemeClr val="tx1"/>
                </a:solidFill>
              </a:rPr>
              <a:t>pH</a:t>
            </a:r>
            <a:endParaRPr lang="en-US" sz="1400" dirty="0"/>
          </a:p>
          <a:p>
            <a:pPr marL="0" indent="0">
              <a:buNone/>
            </a:pPr>
            <a:r>
              <a:rPr lang="en-US" sz="1400" dirty="0">
                <a:solidFill>
                  <a:schemeClr val="tx1"/>
                </a:solidFill>
              </a:rPr>
              <a:t>sulphates</a:t>
            </a:r>
            <a:endParaRPr lang="en-US" sz="1400" dirty="0"/>
          </a:p>
          <a:p>
            <a:pPr marL="0" indent="0">
              <a:buNone/>
            </a:pPr>
            <a:r>
              <a:rPr lang="en-US" sz="1400" dirty="0">
                <a:solidFill>
                  <a:schemeClr val="tx1"/>
                </a:solidFill>
              </a:rPr>
              <a:t>alcohol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ctr"/>
          <a:lstStyle/>
          <a:p>
            <a:pPr marL="0" indent="0" algn="l">
              <a:buNone/>
            </a:pPr>
            <a:r>
              <a:rPr lang="en-US" sz="3200" b="1" dirty="0">
                <a:solidFill>
                  <a:schemeClr val="tx2"/>
                </a:solidFill>
              </a:rPr>
              <a:t>Understanding and Preparing the Data</a:t>
            </a:r>
            <a:endParaRPr lang="en-US" sz="3200" dirty="0"/>
          </a:p>
        </p:txBody>
      </p:sp>
      <p:sp>
        <p:nvSpPr>
          <p:cNvPr id="3" name="Text 1"/>
          <p:cNvSpPr txBox="1"/>
          <p:nvPr/>
        </p:nvSpPr>
        <p:spPr>
          <a:xfrm>
            <a:off x="457200" y="868680"/>
            <a:ext cx="8229600" cy="320040"/>
          </a:xfrm>
          <a:prstGeom prst="rect">
            <a:avLst/>
          </a:prstGeom>
          <a:noFill/>
          <a:ln/>
        </p:spPr>
        <p:txBody>
          <a:bodyPr wrap="square" lIns="0" tIns="0" rIns="0" bIns="0" rtlCol="0" anchor="t"/>
          <a:lstStyle/>
          <a:p>
            <a:pPr marL="0" indent="0">
              <a:buNone/>
            </a:pPr>
            <a:r>
              <a:rPr lang="en-US" sz="1600" i="1" dirty="0">
                <a:solidFill>
                  <a:schemeClr val="accent3"/>
                </a:solidFill>
              </a:rPr>
              <a:t>Most wines score 5 or 6, so extreme scores are rare</a:t>
            </a:r>
            <a:endParaRPr lang="en-US" sz="1600" dirty="0"/>
          </a:p>
        </p:txBody>
      </p:sp>
      <p:graphicFrame>
        <p:nvGraphicFramePr>
          <p:cNvPr id="5" name="Chart 0"/>
          <p:cNvGraphicFramePr/>
          <p:nvPr/>
        </p:nvGraphicFramePr>
        <p:xfrm>
          <a:off x="365760" y="1325880"/>
          <a:ext cx="429768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6" name="step badge 1"/>
          <p:cNvSpPr/>
          <p:nvPr/>
        </p:nvSpPr>
        <p:spPr>
          <a:xfrm>
            <a:off x="4937760" y="1417320"/>
            <a:ext cx="420624" cy="420624"/>
          </a:xfrm>
          <a:prstGeom prst="ellipse">
            <a:avLst/>
          </a:prstGeom>
          <a:solidFill>
            <a:schemeClr val="tx2"/>
          </a:solidFill>
          <a:ln w="12700">
            <a:solidFill>
              <a:schemeClr val="tx2"/>
            </a:solidFill>
            <a:prstDash val="solid"/>
          </a:ln>
        </p:spPr>
      </p:sp>
      <p:sp>
        <p:nvSpPr>
          <p:cNvPr id="7" name="Text 3"/>
          <p:cNvSpPr txBox="1"/>
          <p:nvPr/>
        </p:nvSpPr>
        <p:spPr>
          <a:xfrm>
            <a:off x="4937760" y="1417320"/>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4"/>
          <p:cNvSpPr txBox="1"/>
          <p:nvPr/>
        </p:nvSpPr>
        <p:spPr>
          <a:xfrm>
            <a:off x="5532120" y="1417320"/>
            <a:ext cx="3154680" cy="420624"/>
          </a:xfrm>
          <a:prstGeom prst="rect">
            <a:avLst/>
          </a:prstGeom>
          <a:noFill/>
          <a:ln/>
        </p:spPr>
        <p:txBody>
          <a:bodyPr wrap="square" lIns="0" tIns="0" rIns="0" bIns="0" rtlCol="0" anchor="ctr"/>
          <a:lstStyle/>
          <a:p>
            <a:pPr marL="0" indent="0">
              <a:buNone/>
            </a:pPr>
            <a:r>
              <a:rPr lang="en-US" sz="1400" dirty="0">
                <a:solidFill>
                  <a:schemeClr val="tx1"/>
                </a:solidFill>
              </a:rPr>
              <a:t>Removed 1,177 duplicate rows (5,320 left)</a:t>
            </a:r>
            <a:endParaRPr lang="en-US" sz="1400" dirty="0"/>
          </a:p>
        </p:txBody>
      </p:sp>
      <p:sp>
        <p:nvSpPr>
          <p:cNvPr id="9" name="step badge 2"/>
          <p:cNvSpPr/>
          <p:nvPr/>
        </p:nvSpPr>
        <p:spPr>
          <a:xfrm>
            <a:off x="4937760" y="2039112"/>
            <a:ext cx="420624" cy="420624"/>
          </a:xfrm>
          <a:prstGeom prst="ellipse">
            <a:avLst/>
          </a:prstGeom>
          <a:solidFill>
            <a:schemeClr val="tx2"/>
          </a:solidFill>
          <a:ln w="12700">
            <a:solidFill>
              <a:schemeClr val="tx2"/>
            </a:solidFill>
            <a:prstDash val="solid"/>
          </a:ln>
        </p:spPr>
      </p:sp>
      <p:sp>
        <p:nvSpPr>
          <p:cNvPr id="10" name="Text 6"/>
          <p:cNvSpPr txBox="1"/>
          <p:nvPr/>
        </p:nvSpPr>
        <p:spPr>
          <a:xfrm>
            <a:off x="4937760" y="2039112"/>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7"/>
          <p:cNvSpPr txBox="1"/>
          <p:nvPr/>
        </p:nvSpPr>
        <p:spPr>
          <a:xfrm>
            <a:off x="5532120" y="2039112"/>
            <a:ext cx="3154680" cy="420624"/>
          </a:xfrm>
          <a:prstGeom prst="rect">
            <a:avLst/>
          </a:prstGeom>
          <a:noFill/>
          <a:ln/>
        </p:spPr>
        <p:txBody>
          <a:bodyPr wrap="square" lIns="0" tIns="0" rIns="0" bIns="0" rtlCol="0" anchor="ctr"/>
          <a:lstStyle/>
          <a:p>
            <a:pPr marL="0" indent="0">
              <a:buNone/>
            </a:pPr>
            <a:r>
              <a:rPr lang="en-US" sz="1400" dirty="0">
                <a:solidFill>
                  <a:schemeClr val="tx1"/>
                </a:solidFill>
              </a:rPr>
              <a:t>Encoded wine type (red/white) as 0/1</a:t>
            </a:r>
            <a:endParaRPr lang="en-US" sz="1400" dirty="0"/>
          </a:p>
        </p:txBody>
      </p:sp>
      <p:sp>
        <p:nvSpPr>
          <p:cNvPr id="12" name="step badge 3"/>
          <p:cNvSpPr/>
          <p:nvPr/>
        </p:nvSpPr>
        <p:spPr>
          <a:xfrm>
            <a:off x="4937760" y="2660904"/>
            <a:ext cx="420624" cy="420624"/>
          </a:xfrm>
          <a:prstGeom prst="ellipse">
            <a:avLst/>
          </a:prstGeom>
          <a:solidFill>
            <a:schemeClr val="tx2"/>
          </a:solidFill>
          <a:ln w="12700">
            <a:solidFill>
              <a:schemeClr val="tx2"/>
            </a:solidFill>
            <a:prstDash val="solid"/>
          </a:ln>
        </p:spPr>
      </p:sp>
      <p:sp>
        <p:nvSpPr>
          <p:cNvPr id="13" name="Text 9"/>
          <p:cNvSpPr txBox="1"/>
          <p:nvPr/>
        </p:nvSpPr>
        <p:spPr>
          <a:xfrm>
            <a:off x="4937760" y="2660904"/>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Text 10"/>
          <p:cNvSpPr txBox="1"/>
          <p:nvPr/>
        </p:nvSpPr>
        <p:spPr>
          <a:xfrm>
            <a:off x="5532120" y="2660904"/>
            <a:ext cx="3154680" cy="420624"/>
          </a:xfrm>
          <a:prstGeom prst="rect">
            <a:avLst/>
          </a:prstGeom>
          <a:noFill/>
          <a:ln/>
        </p:spPr>
        <p:txBody>
          <a:bodyPr wrap="square" lIns="0" tIns="0" rIns="0" bIns="0" rtlCol="0" anchor="ctr"/>
          <a:lstStyle/>
          <a:p>
            <a:pPr marL="0" indent="0">
              <a:buNone/>
            </a:pPr>
            <a:r>
              <a:rPr lang="en-US" sz="1400" dirty="0">
                <a:solidFill>
                  <a:schemeClr val="tx1"/>
                </a:solidFill>
              </a:rPr>
              <a:t>Stratified 80/20 split: 4,256 train, 1,064 test</a:t>
            </a:r>
            <a:endParaRPr lang="en-US" sz="1400" dirty="0"/>
          </a:p>
        </p:txBody>
      </p:sp>
      <p:sp>
        <p:nvSpPr>
          <p:cNvPr id="15" name="step badge 4"/>
          <p:cNvSpPr/>
          <p:nvPr/>
        </p:nvSpPr>
        <p:spPr>
          <a:xfrm>
            <a:off x="4937760" y="3282696"/>
            <a:ext cx="420624" cy="420624"/>
          </a:xfrm>
          <a:prstGeom prst="ellipse">
            <a:avLst/>
          </a:prstGeom>
          <a:solidFill>
            <a:schemeClr val="tx2"/>
          </a:solidFill>
          <a:ln w="12700">
            <a:solidFill>
              <a:schemeClr val="tx2"/>
            </a:solidFill>
            <a:prstDash val="solid"/>
          </a:ln>
        </p:spPr>
      </p:sp>
      <p:sp>
        <p:nvSpPr>
          <p:cNvPr id="16" name="Text 12"/>
          <p:cNvSpPr txBox="1"/>
          <p:nvPr/>
        </p:nvSpPr>
        <p:spPr>
          <a:xfrm>
            <a:off x="4937760" y="3282696"/>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7" name="Text 13"/>
          <p:cNvSpPr txBox="1"/>
          <p:nvPr/>
        </p:nvSpPr>
        <p:spPr>
          <a:xfrm>
            <a:off x="5532120" y="3282696"/>
            <a:ext cx="3154680" cy="420624"/>
          </a:xfrm>
          <a:prstGeom prst="rect">
            <a:avLst/>
          </a:prstGeom>
          <a:noFill/>
          <a:ln/>
        </p:spPr>
        <p:txBody>
          <a:bodyPr wrap="square" lIns="0" tIns="0" rIns="0" bIns="0" rtlCol="0" anchor="ctr"/>
          <a:lstStyle/>
          <a:p>
            <a:pPr marL="0" indent="0">
              <a:buNone/>
            </a:pPr>
            <a:r>
              <a:rPr lang="en-US" sz="1400" dirty="0">
                <a:solidFill>
                  <a:schemeClr val="tx1"/>
                </a:solidFill>
              </a:rPr>
              <a:t>Capped 226 extreme outliers (3×IQR, train limits)</a:t>
            </a:r>
            <a:endParaRPr lang="en-US" sz="1400" dirty="0"/>
          </a:p>
        </p:txBody>
      </p:sp>
      <p:sp>
        <p:nvSpPr>
          <p:cNvPr id="18" name="step badge 5"/>
          <p:cNvSpPr/>
          <p:nvPr/>
        </p:nvSpPr>
        <p:spPr>
          <a:xfrm>
            <a:off x="4937760" y="3904488"/>
            <a:ext cx="420624" cy="420624"/>
          </a:xfrm>
          <a:prstGeom prst="ellipse">
            <a:avLst/>
          </a:prstGeom>
          <a:solidFill>
            <a:schemeClr val="tx2"/>
          </a:solidFill>
          <a:ln w="12700">
            <a:solidFill>
              <a:schemeClr val="tx2"/>
            </a:solidFill>
            <a:prstDash val="solid"/>
          </a:ln>
        </p:spPr>
      </p:sp>
      <p:sp>
        <p:nvSpPr>
          <p:cNvPr id="19" name="Text 15"/>
          <p:cNvSpPr txBox="1"/>
          <p:nvPr/>
        </p:nvSpPr>
        <p:spPr>
          <a:xfrm>
            <a:off x="4937760" y="3904488"/>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0" name="Text 16"/>
          <p:cNvSpPr txBox="1"/>
          <p:nvPr/>
        </p:nvSpPr>
        <p:spPr>
          <a:xfrm>
            <a:off x="5532120" y="3904488"/>
            <a:ext cx="3154680" cy="420624"/>
          </a:xfrm>
          <a:prstGeom prst="rect">
            <a:avLst/>
          </a:prstGeom>
          <a:noFill/>
          <a:ln/>
        </p:spPr>
        <p:txBody>
          <a:bodyPr wrap="square" lIns="0" tIns="0" rIns="0" bIns="0" rtlCol="0" anchor="ctr"/>
          <a:lstStyle/>
          <a:p>
            <a:pPr marL="0" indent="0">
              <a:buNone/>
            </a:pPr>
            <a:r>
              <a:rPr lang="en-US" sz="1400" dirty="0">
                <a:solidFill>
                  <a:schemeClr val="tx1"/>
                </a:solidFill>
              </a:rPr>
              <a:t>Standardised features inside a pipeline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ctr"/>
          <a:lstStyle/>
          <a:p>
            <a:pPr marL="0" indent="0" algn="l">
              <a:buNone/>
            </a:pPr>
            <a:r>
              <a:rPr lang="en-US" sz="3200" b="1" dirty="0">
                <a:solidFill>
                  <a:schemeClr val="tx2"/>
                </a:solidFill>
              </a:rPr>
              <a:t>Predictive Modelling Approach</a:t>
            </a:r>
            <a:endParaRPr lang="en-US" sz="3200" dirty="0"/>
          </a:p>
        </p:txBody>
      </p:sp>
      <p:sp>
        <p:nvSpPr>
          <p:cNvPr id="3" name="Text 1"/>
          <p:cNvSpPr txBox="1"/>
          <p:nvPr/>
        </p:nvSpPr>
        <p:spPr>
          <a:xfrm>
            <a:off x="457200" y="868680"/>
            <a:ext cx="8229600" cy="320040"/>
          </a:xfrm>
          <a:prstGeom prst="rect">
            <a:avLst/>
          </a:prstGeom>
          <a:noFill/>
          <a:ln/>
        </p:spPr>
        <p:txBody>
          <a:bodyPr wrap="square" lIns="0" tIns="0" rIns="0" bIns="0" rtlCol="0" anchor="t"/>
          <a:lstStyle/>
          <a:p>
            <a:pPr marL="0" indent="0">
              <a:buNone/>
            </a:pPr>
            <a:r>
              <a:rPr lang="en-US" sz="1600" i="1" dirty="0">
                <a:solidFill>
                  <a:schemeClr val="accent3"/>
                </a:solidFill>
              </a:rPr>
              <a:t>Five steps from raw data to an honest test score</a:t>
            </a:r>
            <a:endParaRPr lang="en-US" sz="1600" dirty="0"/>
          </a:p>
        </p:txBody>
      </p:sp>
      <p:sp>
        <p:nvSpPr>
          <p:cNvPr id="5" name="flow 0"/>
          <p:cNvSpPr/>
          <p:nvPr/>
        </p:nvSpPr>
        <p:spPr>
          <a:xfrm>
            <a:off x="457200" y="1371600"/>
            <a:ext cx="1554480" cy="1280160"/>
          </a:xfrm>
          <a:prstGeom prst="roundRect">
            <a:avLst>
              <a:gd name="adj" fmla="val 5714"/>
            </a:avLst>
          </a:prstGeom>
          <a:solidFill>
            <a:schemeClr val="bg2"/>
          </a:solidFill>
          <a:ln w="12700">
            <a:solidFill>
              <a:schemeClr val="bg2"/>
            </a:solidFill>
            <a:prstDash val="solid"/>
          </a:ln>
        </p:spPr>
      </p:sp>
      <p:sp>
        <p:nvSpPr>
          <p:cNvPr id="6" name="Text 3"/>
          <p:cNvSpPr txBox="1"/>
          <p:nvPr/>
        </p:nvSpPr>
        <p:spPr>
          <a:xfrm>
            <a:off x="566928" y="1463040"/>
            <a:ext cx="1335024" cy="320040"/>
          </a:xfrm>
          <a:prstGeom prst="rect">
            <a:avLst/>
          </a:prstGeom>
          <a:noFill/>
          <a:ln/>
        </p:spPr>
        <p:txBody>
          <a:bodyPr wrap="square" lIns="0" tIns="0" rIns="0" bIns="0" rtlCol="0" anchor="t"/>
          <a:lstStyle/>
          <a:p>
            <a:pPr marL="0" indent="0">
              <a:buNone/>
            </a:pPr>
            <a:r>
              <a:rPr lang="en-US" sz="1600" b="1" dirty="0">
                <a:solidFill>
                  <a:schemeClr val="tx2"/>
                </a:solidFill>
              </a:rPr>
              <a:t>1  Split</a:t>
            </a:r>
            <a:endParaRPr lang="en-US" sz="1600" dirty="0"/>
          </a:p>
        </p:txBody>
      </p:sp>
      <p:sp>
        <p:nvSpPr>
          <p:cNvPr id="7" name="Text 4"/>
          <p:cNvSpPr txBox="1"/>
          <p:nvPr/>
        </p:nvSpPr>
        <p:spPr>
          <a:xfrm>
            <a:off x="566928" y="1847088"/>
            <a:ext cx="1335024" cy="868680"/>
          </a:xfrm>
          <a:prstGeom prst="rect">
            <a:avLst/>
          </a:prstGeom>
          <a:noFill/>
          <a:ln/>
        </p:spPr>
        <p:txBody>
          <a:bodyPr wrap="square" lIns="0" tIns="0" rIns="0" bIns="0" rtlCol="0" anchor="t"/>
          <a:lstStyle/>
          <a:p>
            <a:pPr marL="0" indent="0">
              <a:buNone/>
            </a:pPr>
            <a:r>
              <a:rPr lang="en-US" sz="1400" dirty="0">
                <a:solidFill>
                  <a:schemeClr val="tx1"/>
                </a:solidFill>
              </a:rPr>
              <a:t>80/20, stratified by quality</a:t>
            </a:r>
            <a:endParaRPr lang="en-US" sz="1400" dirty="0"/>
          </a:p>
        </p:txBody>
      </p:sp>
      <p:sp>
        <p:nvSpPr>
          <p:cNvPr id="8" name="flow 1"/>
          <p:cNvSpPr/>
          <p:nvPr/>
        </p:nvSpPr>
        <p:spPr>
          <a:xfrm>
            <a:off x="2125980" y="1371600"/>
            <a:ext cx="1554480" cy="1280160"/>
          </a:xfrm>
          <a:prstGeom prst="roundRect">
            <a:avLst>
              <a:gd name="adj" fmla="val 5714"/>
            </a:avLst>
          </a:prstGeom>
          <a:solidFill>
            <a:schemeClr val="bg2"/>
          </a:solidFill>
          <a:ln w="12700">
            <a:solidFill>
              <a:schemeClr val="bg2"/>
            </a:solidFill>
            <a:prstDash val="solid"/>
          </a:ln>
        </p:spPr>
      </p:sp>
      <p:sp>
        <p:nvSpPr>
          <p:cNvPr id="9" name="Text 6"/>
          <p:cNvSpPr txBox="1"/>
          <p:nvPr/>
        </p:nvSpPr>
        <p:spPr>
          <a:xfrm>
            <a:off x="2235708" y="1463040"/>
            <a:ext cx="1335024" cy="320040"/>
          </a:xfrm>
          <a:prstGeom prst="rect">
            <a:avLst/>
          </a:prstGeom>
          <a:noFill/>
          <a:ln/>
        </p:spPr>
        <p:txBody>
          <a:bodyPr wrap="square" lIns="0" tIns="0" rIns="0" bIns="0" rtlCol="0" anchor="t"/>
          <a:lstStyle/>
          <a:p>
            <a:pPr marL="0" indent="0">
              <a:buNone/>
            </a:pPr>
            <a:r>
              <a:rPr lang="en-US" sz="1600" b="1" dirty="0">
                <a:solidFill>
                  <a:schemeClr val="tx2"/>
                </a:solidFill>
              </a:rPr>
              <a:t>2  Pipeline</a:t>
            </a:r>
            <a:endParaRPr lang="en-US" sz="1600" dirty="0"/>
          </a:p>
        </p:txBody>
      </p:sp>
      <p:sp>
        <p:nvSpPr>
          <p:cNvPr id="10" name="Text 7"/>
          <p:cNvSpPr txBox="1"/>
          <p:nvPr/>
        </p:nvSpPr>
        <p:spPr>
          <a:xfrm>
            <a:off x="2235708" y="1847088"/>
            <a:ext cx="1335024" cy="868680"/>
          </a:xfrm>
          <a:prstGeom prst="rect">
            <a:avLst/>
          </a:prstGeom>
          <a:noFill/>
          <a:ln/>
        </p:spPr>
        <p:txBody>
          <a:bodyPr wrap="square" lIns="0" tIns="0" rIns="0" bIns="0" rtlCol="0" anchor="t"/>
          <a:lstStyle/>
          <a:p>
            <a:pPr marL="0" indent="0">
              <a:buNone/>
            </a:pPr>
            <a:r>
              <a:rPr lang="en-US" sz="1400" dirty="0">
                <a:solidFill>
                  <a:schemeClr val="tx1"/>
                </a:solidFill>
              </a:rPr>
              <a:t>Outlier cap and scaling</a:t>
            </a:r>
            <a:endParaRPr lang="en-US" sz="1400" dirty="0"/>
          </a:p>
        </p:txBody>
      </p:sp>
      <p:sp>
        <p:nvSpPr>
          <p:cNvPr id="11" name="flow 2"/>
          <p:cNvSpPr/>
          <p:nvPr/>
        </p:nvSpPr>
        <p:spPr>
          <a:xfrm>
            <a:off x="3794760" y="1371600"/>
            <a:ext cx="1554480" cy="1280160"/>
          </a:xfrm>
          <a:prstGeom prst="roundRect">
            <a:avLst>
              <a:gd name="adj" fmla="val 5714"/>
            </a:avLst>
          </a:prstGeom>
          <a:solidFill>
            <a:schemeClr val="bg2"/>
          </a:solidFill>
          <a:ln w="12700">
            <a:solidFill>
              <a:schemeClr val="bg2"/>
            </a:solidFill>
            <a:prstDash val="solid"/>
          </a:ln>
        </p:spPr>
      </p:sp>
      <p:sp>
        <p:nvSpPr>
          <p:cNvPr id="12" name="Text 9"/>
          <p:cNvSpPr txBox="1"/>
          <p:nvPr/>
        </p:nvSpPr>
        <p:spPr>
          <a:xfrm>
            <a:off x="3904488" y="1463040"/>
            <a:ext cx="1335024" cy="320040"/>
          </a:xfrm>
          <a:prstGeom prst="rect">
            <a:avLst/>
          </a:prstGeom>
          <a:noFill/>
          <a:ln/>
        </p:spPr>
        <p:txBody>
          <a:bodyPr wrap="square" lIns="0" tIns="0" rIns="0" bIns="0" rtlCol="0" anchor="t"/>
          <a:lstStyle/>
          <a:p>
            <a:pPr marL="0" indent="0">
              <a:buNone/>
            </a:pPr>
            <a:r>
              <a:rPr lang="en-US" sz="1600" b="1" dirty="0">
                <a:solidFill>
                  <a:schemeClr val="tx2"/>
                </a:solidFill>
              </a:rPr>
              <a:t>3  Compare</a:t>
            </a:r>
            <a:endParaRPr lang="en-US" sz="1600" dirty="0"/>
          </a:p>
        </p:txBody>
      </p:sp>
      <p:sp>
        <p:nvSpPr>
          <p:cNvPr id="13" name="Text 10"/>
          <p:cNvSpPr txBox="1"/>
          <p:nvPr/>
        </p:nvSpPr>
        <p:spPr>
          <a:xfrm>
            <a:off x="3904488" y="1847088"/>
            <a:ext cx="1335024" cy="868680"/>
          </a:xfrm>
          <a:prstGeom prst="rect">
            <a:avLst/>
          </a:prstGeom>
          <a:noFill/>
          <a:ln/>
        </p:spPr>
        <p:txBody>
          <a:bodyPr wrap="square" lIns="0" tIns="0" rIns="0" bIns="0" rtlCol="0" anchor="t"/>
          <a:lstStyle/>
          <a:p>
            <a:pPr marL="0" indent="0">
              <a:buNone/>
            </a:pPr>
            <a:r>
              <a:rPr lang="en-US" sz="1400" dirty="0">
                <a:solidFill>
                  <a:schemeClr val="tx1"/>
                </a:solidFill>
              </a:rPr>
              <a:t>8 models, 5-fold CV</a:t>
            </a:r>
            <a:endParaRPr lang="en-US" sz="1400" dirty="0"/>
          </a:p>
        </p:txBody>
      </p:sp>
      <p:sp>
        <p:nvSpPr>
          <p:cNvPr id="14" name="flow 3"/>
          <p:cNvSpPr/>
          <p:nvPr/>
        </p:nvSpPr>
        <p:spPr>
          <a:xfrm>
            <a:off x="5463540" y="1371600"/>
            <a:ext cx="1554480" cy="1280160"/>
          </a:xfrm>
          <a:prstGeom prst="roundRect">
            <a:avLst>
              <a:gd name="adj" fmla="val 5714"/>
            </a:avLst>
          </a:prstGeom>
          <a:solidFill>
            <a:schemeClr val="bg2"/>
          </a:solidFill>
          <a:ln w="12700">
            <a:solidFill>
              <a:schemeClr val="bg2"/>
            </a:solidFill>
            <a:prstDash val="solid"/>
          </a:ln>
        </p:spPr>
      </p:sp>
      <p:sp>
        <p:nvSpPr>
          <p:cNvPr id="15" name="Text 12"/>
          <p:cNvSpPr txBox="1"/>
          <p:nvPr/>
        </p:nvSpPr>
        <p:spPr>
          <a:xfrm>
            <a:off x="5573268" y="1463040"/>
            <a:ext cx="1335024" cy="320040"/>
          </a:xfrm>
          <a:prstGeom prst="rect">
            <a:avLst/>
          </a:prstGeom>
          <a:noFill/>
          <a:ln/>
        </p:spPr>
        <p:txBody>
          <a:bodyPr wrap="square" lIns="0" tIns="0" rIns="0" bIns="0" rtlCol="0" anchor="t"/>
          <a:lstStyle/>
          <a:p>
            <a:pPr marL="0" indent="0">
              <a:buNone/>
            </a:pPr>
            <a:r>
              <a:rPr lang="en-US" sz="1600" b="1" dirty="0">
                <a:solidFill>
                  <a:schemeClr val="tx2"/>
                </a:solidFill>
              </a:rPr>
              <a:t>4  Tune</a:t>
            </a:r>
            <a:endParaRPr lang="en-US" sz="1600" dirty="0"/>
          </a:p>
        </p:txBody>
      </p:sp>
      <p:sp>
        <p:nvSpPr>
          <p:cNvPr id="16" name="Text 13"/>
          <p:cNvSpPr txBox="1"/>
          <p:nvPr/>
        </p:nvSpPr>
        <p:spPr>
          <a:xfrm>
            <a:off x="5573268" y="1847088"/>
            <a:ext cx="1335024" cy="868680"/>
          </a:xfrm>
          <a:prstGeom prst="rect">
            <a:avLst/>
          </a:prstGeom>
          <a:noFill/>
          <a:ln/>
        </p:spPr>
        <p:txBody>
          <a:bodyPr wrap="square" lIns="0" tIns="0" rIns="0" bIns="0" rtlCol="0" anchor="t"/>
          <a:lstStyle/>
          <a:p>
            <a:pPr marL="0" indent="0">
              <a:buNone/>
            </a:pPr>
            <a:r>
              <a:rPr lang="en-US" sz="1400" dirty="0">
                <a:solidFill>
                  <a:schemeClr val="tx1"/>
                </a:solidFill>
              </a:rPr>
              <a:t>Random search on RF and XGBoost</a:t>
            </a:r>
            <a:endParaRPr lang="en-US" sz="1400" dirty="0"/>
          </a:p>
        </p:txBody>
      </p:sp>
      <p:sp>
        <p:nvSpPr>
          <p:cNvPr id="17" name="flow 4"/>
          <p:cNvSpPr/>
          <p:nvPr/>
        </p:nvSpPr>
        <p:spPr>
          <a:xfrm>
            <a:off x="7132320" y="1371600"/>
            <a:ext cx="1554480" cy="1280160"/>
          </a:xfrm>
          <a:prstGeom prst="roundRect">
            <a:avLst>
              <a:gd name="adj" fmla="val 5714"/>
            </a:avLst>
          </a:prstGeom>
          <a:solidFill>
            <a:schemeClr val="bg2"/>
          </a:solidFill>
          <a:ln w="12700">
            <a:solidFill>
              <a:schemeClr val="bg2"/>
            </a:solidFill>
            <a:prstDash val="solid"/>
          </a:ln>
        </p:spPr>
      </p:sp>
      <p:sp>
        <p:nvSpPr>
          <p:cNvPr id="18" name="Text 15"/>
          <p:cNvSpPr txBox="1"/>
          <p:nvPr/>
        </p:nvSpPr>
        <p:spPr>
          <a:xfrm>
            <a:off x="7242048" y="1463040"/>
            <a:ext cx="1335024" cy="320040"/>
          </a:xfrm>
          <a:prstGeom prst="rect">
            <a:avLst/>
          </a:prstGeom>
          <a:noFill/>
          <a:ln/>
        </p:spPr>
        <p:txBody>
          <a:bodyPr wrap="square" lIns="0" tIns="0" rIns="0" bIns="0" rtlCol="0" anchor="t"/>
          <a:lstStyle/>
          <a:p>
            <a:pPr marL="0" indent="0">
              <a:buNone/>
            </a:pPr>
            <a:r>
              <a:rPr lang="en-US" sz="1600" b="1" dirty="0">
                <a:solidFill>
                  <a:schemeClr val="tx2"/>
                </a:solidFill>
              </a:rPr>
              <a:t>5  Test</a:t>
            </a:r>
            <a:endParaRPr lang="en-US" sz="1600" dirty="0"/>
          </a:p>
        </p:txBody>
      </p:sp>
      <p:sp>
        <p:nvSpPr>
          <p:cNvPr id="19" name="Text 16"/>
          <p:cNvSpPr txBox="1"/>
          <p:nvPr/>
        </p:nvSpPr>
        <p:spPr>
          <a:xfrm>
            <a:off x="7242048" y="1847088"/>
            <a:ext cx="1335024" cy="868680"/>
          </a:xfrm>
          <a:prstGeom prst="rect">
            <a:avLst/>
          </a:prstGeom>
          <a:noFill/>
          <a:ln/>
        </p:spPr>
        <p:txBody>
          <a:bodyPr wrap="square" lIns="0" tIns="0" rIns="0" bIns="0" rtlCol="0" anchor="t"/>
          <a:lstStyle/>
          <a:p>
            <a:pPr marL="0" indent="0">
              <a:buNone/>
            </a:pPr>
            <a:r>
              <a:rPr lang="en-US" sz="1400" dirty="0">
                <a:solidFill>
                  <a:schemeClr val="tx1"/>
                </a:solidFill>
              </a:rPr>
              <a:t>Score once on unseen wines</a:t>
            </a:r>
            <a:endParaRPr lang="en-US" sz="1400" dirty="0"/>
          </a:p>
        </p:txBody>
      </p:sp>
      <p:sp>
        <p:nvSpPr>
          <p:cNvPr id="20" name="Text 17"/>
          <p:cNvSpPr txBox="1"/>
          <p:nvPr/>
        </p:nvSpPr>
        <p:spPr>
          <a:xfrm>
            <a:off x="457200" y="2926080"/>
            <a:ext cx="3657600" cy="274320"/>
          </a:xfrm>
          <a:prstGeom prst="rect">
            <a:avLst/>
          </a:prstGeom>
          <a:noFill/>
          <a:ln/>
        </p:spPr>
        <p:txBody>
          <a:bodyPr wrap="square" lIns="0" tIns="0" rIns="0" bIns="0" rtlCol="0" anchor="t"/>
          <a:lstStyle/>
          <a:p>
            <a:pPr marL="0" indent="0">
              <a:buNone/>
            </a:pPr>
            <a:r>
              <a:rPr lang="en-US" sz="1800" b="1" dirty="0">
                <a:solidFill>
                  <a:schemeClr val="tx2"/>
                </a:solidFill>
              </a:rPr>
              <a:t>Error metrics</a:t>
            </a:r>
            <a:endParaRPr lang="en-US" sz="1800" dirty="0"/>
          </a:p>
        </p:txBody>
      </p:sp>
      <p:sp>
        <p:nvSpPr>
          <p:cNvPr id="21" name="metric MAE"/>
          <p:cNvSpPr/>
          <p:nvPr/>
        </p:nvSpPr>
        <p:spPr>
          <a:xfrm>
            <a:off x="457200" y="3291840"/>
            <a:ext cx="1920240" cy="1234440"/>
          </a:xfrm>
          <a:prstGeom prst="roundRect">
            <a:avLst>
              <a:gd name="adj" fmla="val 5926"/>
            </a:avLst>
          </a:prstGeom>
          <a:solidFill>
            <a:schemeClr val="bg2"/>
          </a:solidFill>
          <a:ln w="12700">
            <a:solidFill>
              <a:schemeClr val="bg2"/>
            </a:solidFill>
            <a:prstDash val="solid"/>
          </a:ln>
        </p:spPr>
      </p:sp>
      <p:sp>
        <p:nvSpPr>
          <p:cNvPr id="22" name="Text 19"/>
          <p:cNvSpPr txBox="1"/>
          <p:nvPr/>
        </p:nvSpPr>
        <p:spPr>
          <a:xfrm>
            <a:off x="594360" y="3364992"/>
            <a:ext cx="1645920" cy="32004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MAE</a:t>
            </a:r>
            <a:endParaRPr lang="en-US" sz="2000" dirty="0"/>
          </a:p>
        </p:txBody>
      </p:sp>
      <p:sp>
        <p:nvSpPr>
          <p:cNvPr id="23" name="Text 20"/>
          <p:cNvSpPr txBox="1"/>
          <p:nvPr/>
        </p:nvSpPr>
        <p:spPr>
          <a:xfrm>
            <a:off x="594360" y="3730752"/>
            <a:ext cx="1645920" cy="731520"/>
          </a:xfrm>
          <a:prstGeom prst="rect">
            <a:avLst/>
          </a:prstGeom>
          <a:noFill/>
          <a:ln/>
        </p:spPr>
        <p:txBody>
          <a:bodyPr wrap="square" lIns="0" tIns="0" rIns="0" bIns="0" rtlCol="0" anchor="t"/>
          <a:lstStyle/>
          <a:p>
            <a:pPr marL="0" indent="0">
              <a:buNone/>
            </a:pPr>
            <a:r>
              <a:rPr lang="en-US" sz="1400" dirty="0">
                <a:solidFill>
                  <a:schemeClr val="tx1"/>
                </a:solidFill>
              </a:rPr>
              <a:t>Average miss, in quality points</a:t>
            </a:r>
            <a:endParaRPr lang="en-US" sz="1400" dirty="0"/>
          </a:p>
        </p:txBody>
      </p:sp>
      <p:sp>
        <p:nvSpPr>
          <p:cNvPr id="24" name="metric MSE"/>
          <p:cNvSpPr/>
          <p:nvPr/>
        </p:nvSpPr>
        <p:spPr>
          <a:xfrm>
            <a:off x="2542032" y="3291840"/>
            <a:ext cx="1920240" cy="1234440"/>
          </a:xfrm>
          <a:prstGeom prst="roundRect">
            <a:avLst>
              <a:gd name="adj" fmla="val 5926"/>
            </a:avLst>
          </a:prstGeom>
          <a:solidFill>
            <a:schemeClr val="bg2"/>
          </a:solidFill>
          <a:ln w="12700">
            <a:solidFill>
              <a:schemeClr val="bg2"/>
            </a:solidFill>
            <a:prstDash val="solid"/>
          </a:ln>
        </p:spPr>
      </p:sp>
      <p:sp>
        <p:nvSpPr>
          <p:cNvPr id="25" name="Text 22"/>
          <p:cNvSpPr txBox="1"/>
          <p:nvPr/>
        </p:nvSpPr>
        <p:spPr>
          <a:xfrm>
            <a:off x="2679192" y="3364992"/>
            <a:ext cx="1645920" cy="32004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MSE</a:t>
            </a:r>
            <a:endParaRPr lang="en-US" sz="2000" dirty="0"/>
          </a:p>
        </p:txBody>
      </p:sp>
      <p:sp>
        <p:nvSpPr>
          <p:cNvPr id="26" name="Text 23"/>
          <p:cNvSpPr txBox="1"/>
          <p:nvPr/>
        </p:nvSpPr>
        <p:spPr>
          <a:xfrm>
            <a:off x="2679192" y="3730752"/>
            <a:ext cx="1645920" cy="731520"/>
          </a:xfrm>
          <a:prstGeom prst="rect">
            <a:avLst/>
          </a:prstGeom>
          <a:noFill/>
          <a:ln/>
        </p:spPr>
        <p:txBody>
          <a:bodyPr wrap="square" lIns="0" tIns="0" rIns="0" bIns="0" rtlCol="0" anchor="t"/>
          <a:lstStyle/>
          <a:p>
            <a:pPr marL="0" indent="0">
              <a:buNone/>
            </a:pPr>
            <a:r>
              <a:rPr lang="en-US" sz="1400" dirty="0">
                <a:solidFill>
                  <a:schemeClr val="tx1"/>
                </a:solidFill>
              </a:rPr>
              <a:t>Average squared miss; big errors count more</a:t>
            </a:r>
            <a:endParaRPr lang="en-US" sz="1400" dirty="0"/>
          </a:p>
        </p:txBody>
      </p:sp>
      <p:sp>
        <p:nvSpPr>
          <p:cNvPr id="27" name="metric RMSE"/>
          <p:cNvSpPr/>
          <p:nvPr/>
        </p:nvSpPr>
        <p:spPr>
          <a:xfrm>
            <a:off x="4626864" y="3291840"/>
            <a:ext cx="1920240" cy="1234440"/>
          </a:xfrm>
          <a:prstGeom prst="roundRect">
            <a:avLst>
              <a:gd name="adj" fmla="val 5926"/>
            </a:avLst>
          </a:prstGeom>
          <a:solidFill>
            <a:schemeClr val="bg2"/>
          </a:solidFill>
          <a:ln w="12700">
            <a:solidFill>
              <a:schemeClr val="bg2"/>
            </a:solidFill>
            <a:prstDash val="solid"/>
          </a:ln>
        </p:spPr>
      </p:sp>
      <p:sp>
        <p:nvSpPr>
          <p:cNvPr id="28" name="Text 25"/>
          <p:cNvSpPr txBox="1"/>
          <p:nvPr/>
        </p:nvSpPr>
        <p:spPr>
          <a:xfrm>
            <a:off x="4764024" y="3364992"/>
            <a:ext cx="1645920" cy="32004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RMSE</a:t>
            </a:r>
            <a:endParaRPr lang="en-US" sz="2000" dirty="0"/>
          </a:p>
        </p:txBody>
      </p:sp>
      <p:sp>
        <p:nvSpPr>
          <p:cNvPr id="29" name="Text 26"/>
          <p:cNvSpPr txBox="1"/>
          <p:nvPr/>
        </p:nvSpPr>
        <p:spPr>
          <a:xfrm>
            <a:off x="4764024" y="3730752"/>
            <a:ext cx="1645920" cy="731520"/>
          </a:xfrm>
          <a:prstGeom prst="rect">
            <a:avLst/>
          </a:prstGeom>
          <a:noFill/>
          <a:ln/>
        </p:spPr>
        <p:txBody>
          <a:bodyPr wrap="square" lIns="0" tIns="0" rIns="0" bIns="0" rtlCol="0" anchor="t"/>
          <a:lstStyle/>
          <a:p>
            <a:pPr marL="0" indent="0">
              <a:buNone/>
            </a:pPr>
            <a:r>
              <a:rPr lang="en-US" sz="1400" dirty="0">
                <a:solidFill>
                  <a:schemeClr val="tx1"/>
                </a:solidFill>
              </a:rPr>
              <a:t>√MSE, back in quality points</a:t>
            </a:r>
            <a:endParaRPr lang="en-US" sz="1400" dirty="0"/>
          </a:p>
        </p:txBody>
      </p:sp>
      <p:sp>
        <p:nvSpPr>
          <p:cNvPr id="30" name="metric R²"/>
          <p:cNvSpPr/>
          <p:nvPr/>
        </p:nvSpPr>
        <p:spPr>
          <a:xfrm>
            <a:off x="6711696" y="3291840"/>
            <a:ext cx="1920240" cy="1234440"/>
          </a:xfrm>
          <a:prstGeom prst="roundRect">
            <a:avLst>
              <a:gd name="adj" fmla="val 5926"/>
            </a:avLst>
          </a:prstGeom>
          <a:solidFill>
            <a:schemeClr val="bg2"/>
          </a:solidFill>
          <a:ln w="12700">
            <a:solidFill>
              <a:schemeClr val="bg2"/>
            </a:solidFill>
            <a:prstDash val="solid"/>
          </a:ln>
        </p:spPr>
      </p:sp>
      <p:sp>
        <p:nvSpPr>
          <p:cNvPr id="31" name="Text 28"/>
          <p:cNvSpPr txBox="1"/>
          <p:nvPr/>
        </p:nvSpPr>
        <p:spPr>
          <a:xfrm>
            <a:off x="6848856" y="3364992"/>
            <a:ext cx="1645920" cy="32004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R²</a:t>
            </a:r>
            <a:endParaRPr lang="en-US" sz="2000" dirty="0"/>
          </a:p>
        </p:txBody>
      </p:sp>
      <p:sp>
        <p:nvSpPr>
          <p:cNvPr id="32" name="Text 29"/>
          <p:cNvSpPr txBox="1"/>
          <p:nvPr/>
        </p:nvSpPr>
        <p:spPr>
          <a:xfrm>
            <a:off x="6848856" y="3730752"/>
            <a:ext cx="1645920" cy="731520"/>
          </a:xfrm>
          <a:prstGeom prst="rect">
            <a:avLst/>
          </a:prstGeom>
          <a:noFill/>
          <a:ln/>
        </p:spPr>
        <p:txBody>
          <a:bodyPr wrap="square" lIns="0" tIns="0" rIns="0" bIns="0" rtlCol="0" anchor="t"/>
          <a:lstStyle/>
          <a:p>
            <a:pPr marL="0" indent="0">
              <a:buNone/>
            </a:pPr>
            <a:r>
              <a:rPr lang="en-US" sz="1400" dirty="0">
                <a:solidFill>
                  <a:schemeClr val="tx1"/>
                </a:solidFill>
              </a:rPr>
              <a:t>Share of variation explained (1 = perfect)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ctr"/>
          <a:lstStyle/>
          <a:p>
            <a:pPr marL="0" indent="0" algn="l">
              <a:buNone/>
            </a:pPr>
            <a:r>
              <a:rPr lang="en-US" sz="3200" b="1" dirty="0">
                <a:solidFill>
                  <a:schemeClr val="tx2"/>
                </a:solidFill>
              </a:rPr>
              <a:t>Model Development</a:t>
            </a:r>
            <a:endParaRPr lang="en-US" sz="3200" dirty="0"/>
          </a:p>
        </p:txBody>
      </p:sp>
      <p:sp>
        <p:nvSpPr>
          <p:cNvPr id="3" name="Text 1"/>
          <p:cNvSpPr txBox="1"/>
          <p:nvPr/>
        </p:nvSpPr>
        <p:spPr>
          <a:xfrm>
            <a:off x="457200" y="868680"/>
            <a:ext cx="8229600" cy="320040"/>
          </a:xfrm>
          <a:prstGeom prst="rect">
            <a:avLst/>
          </a:prstGeom>
          <a:noFill/>
          <a:ln/>
        </p:spPr>
        <p:txBody>
          <a:bodyPr wrap="square" lIns="0" tIns="0" rIns="0" bIns="0" rtlCol="0" anchor="t"/>
          <a:lstStyle/>
          <a:p>
            <a:pPr marL="0" indent="0">
              <a:buNone/>
            </a:pPr>
            <a:r>
              <a:rPr lang="en-US" sz="1600" i="1" dirty="0">
                <a:solidFill>
                  <a:schemeClr val="accent3"/>
                </a:solidFill>
              </a:rPr>
              <a:t>Tree ensembles beat linear models; tuning added a little more</a:t>
            </a:r>
            <a:endParaRPr lang="en-US" sz="1600" dirty="0"/>
          </a:p>
        </p:txBody>
      </p:sp>
      <p:graphicFrame>
        <p:nvGraphicFramePr>
          <p:cNvPr id="7" name="model table"/>
          <p:cNvGraphicFramePr>
            <a:graphicFrameLocks noGrp="1"/>
          </p:cNvGraphicFramePr>
          <p:nvPr>
            <p:extLst>
              <p:ext uri="{D42A27DB-BD31-4B8C-83A1-F6EECF244321}">
                <p14:modId xmlns:p14="http://schemas.microsoft.com/office/powerpoint/2010/main" val="1579011935"/>
              </p:ext>
            </p:extLst>
          </p:nvPr>
        </p:nvGraphicFramePr>
        <p:xfrm>
          <a:off x="457200" y="1371600"/>
          <a:ext cx="539496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10896">
                <a:tc>
                  <a:txBody>
                    <a:bodyPr/>
                    <a:lstStyle/>
                    <a:p>
                      <a:pPr marL="0" indent="0" algn="l">
                        <a:buNone/>
                      </a:pPr>
                      <a:r>
                        <a:rPr lang="en-US" sz="1200" b="1" dirty="0">
                          <a:solidFill>
                            <a:srgbClr val="FFFFFF"/>
                          </a:solidFill>
                        </a:rPr>
                        <a:t>Model</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6B1E2E"/>
                    </a:solidFill>
                  </a:tcPr>
                </a:tc>
                <a:tc>
                  <a:txBody>
                    <a:bodyPr/>
                    <a:lstStyle/>
                    <a:p>
                      <a:pPr marL="0" indent="0" algn="ctr">
                        <a:buNone/>
                      </a:pPr>
                      <a:r>
                        <a:rPr lang="en-US" sz="1200" b="1" dirty="0">
                          <a:solidFill>
                            <a:srgbClr val="FFFFFF"/>
                          </a:solidFill>
                        </a:rPr>
                        <a:t>MAE</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6B1E2E"/>
                    </a:solidFill>
                  </a:tcPr>
                </a:tc>
                <a:tc>
                  <a:txBody>
                    <a:bodyPr/>
                    <a:lstStyle/>
                    <a:p>
                      <a:pPr marL="0" indent="0" algn="ctr">
                        <a:buNone/>
                      </a:pPr>
                      <a:r>
                        <a:rPr lang="en-US" sz="1200" b="1" dirty="0">
                          <a:solidFill>
                            <a:srgbClr val="FFFFFF"/>
                          </a:solidFill>
                        </a:rPr>
                        <a:t>RMSE</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6B1E2E"/>
                    </a:solidFill>
                  </a:tcPr>
                </a:tc>
                <a:tc>
                  <a:txBody>
                    <a:bodyPr/>
                    <a:lstStyle/>
                    <a:p>
                      <a:pPr marL="0" indent="0" algn="ctr">
                        <a:buNone/>
                      </a:pPr>
                      <a:r>
                        <a:rPr lang="en-US" sz="1200" b="1" dirty="0">
                          <a:solidFill>
                            <a:srgbClr val="FFFFFF"/>
                          </a:solidFill>
                        </a:rPr>
                        <a:t>R²</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6B1E2E"/>
                    </a:solidFill>
                  </a:tcPr>
                </a:tc>
                <a:extLst>
                  <a:ext uri="{0D108BD9-81ED-4DB2-BD59-A6C34878D82A}">
                    <a16:rowId xmlns:a16="http://schemas.microsoft.com/office/drawing/2014/main" val="10000"/>
                  </a:ext>
                </a:extLst>
              </a:tr>
              <a:tr h="310896">
                <a:tc>
                  <a:txBody>
                    <a:bodyPr/>
                    <a:lstStyle/>
                    <a:p>
                      <a:pPr marL="0" indent="0" algn="l">
                        <a:buNone/>
                      </a:pPr>
                      <a:r>
                        <a:rPr lang="en-US" sz="1200" b="1" dirty="0">
                          <a:solidFill>
                            <a:srgbClr val="000000"/>
                          </a:solidFill>
                        </a:rPr>
                        <a:t>Tuned XGBoost</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6ECEE"/>
                    </a:solidFill>
                  </a:tcPr>
                </a:tc>
                <a:tc>
                  <a:txBody>
                    <a:bodyPr/>
                    <a:lstStyle/>
                    <a:p>
                      <a:pPr marL="0" indent="0" algn="ctr">
                        <a:buNone/>
                      </a:pPr>
                      <a:r>
                        <a:rPr lang="en-US" sz="1200" b="1" dirty="0">
                          <a:solidFill>
                            <a:srgbClr val="000000"/>
                          </a:solidFill>
                        </a:rPr>
                        <a:t>0.524</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6ECEE"/>
                    </a:solidFill>
                  </a:tcPr>
                </a:tc>
                <a:tc>
                  <a:txBody>
                    <a:bodyPr/>
                    <a:lstStyle/>
                    <a:p>
                      <a:pPr marL="0" indent="0" algn="ctr">
                        <a:buNone/>
                      </a:pPr>
                      <a:r>
                        <a:rPr lang="en-US" sz="1200" b="1" dirty="0">
                          <a:solidFill>
                            <a:srgbClr val="000000"/>
                          </a:solidFill>
                        </a:rPr>
                        <a:t>0.678</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6ECEE"/>
                    </a:solidFill>
                  </a:tcPr>
                </a:tc>
                <a:tc>
                  <a:txBody>
                    <a:bodyPr/>
                    <a:lstStyle/>
                    <a:p>
                      <a:pPr marL="0" indent="0" algn="ctr">
                        <a:buNone/>
                      </a:pPr>
                      <a:r>
                        <a:rPr lang="en-US" sz="1200" b="1" dirty="0">
                          <a:solidFill>
                            <a:srgbClr val="000000"/>
                          </a:solidFill>
                        </a:rPr>
                        <a:t>0.407</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6ECEE"/>
                    </a:solidFill>
                  </a:tcPr>
                </a:tc>
                <a:extLst>
                  <a:ext uri="{0D108BD9-81ED-4DB2-BD59-A6C34878D82A}">
                    <a16:rowId xmlns:a16="http://schemas.microsoft.com/office/drawing/2014/main" val="10001"/>
                  </a:ext>
                </a:extLst>
              </a:tr>
              <a:tr h="310896">
                <a:tc>
                  <a:txBody>
                    <a:bodyPr/>
                    <a:lstStyle/>
                    <a:p>
                      <a:pPr marL="0" indent="0" algn="l">
                        <a:buNone/>
                      </a:pPr>
                      <a:r>
                        <a:rPr lang="en-US" sz="1200" dirty="0">
                          <a:solidFill>
                            <a:srgbClr val="000000"/>
                          </a:solidFill>
                        </a:rPr>
                        <a:t>Tuned Random Forest</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0.524</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0.679</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0.405</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l">
                        <a:buNone/>
                      </a:pPr>
                      <a:r>
                        <a:rPr lang="en-US" sz="1200" dirty="0">
                          <a:solidFill>
                            <a:srgbClr val="000000"/>
                          </a:solidFill>
                        </a:rPr>
                        <a:t>Random Forest</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0.531</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0.687</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0.390</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l">
                        <a:buNone/>
                      </a:pPr>
                      <a:r>
                        <a:rPr lang="en-US" sz="1200" dirty="0">
                          <a:solidFill>
                            <a:srgbClr val="000000"/>
                          </a:solidFill>
                        </a:rPr>
                        <a:t>XGBoost (default)</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0.529</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0.690</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0.386</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lgn="l">
                        <a:buNone/>
                      </a:pPr>
                      <a:r>
                        <a:rPr lang="en-US" sz="1200" dirty="0">
                          <a:solidFill>
                            <a:srgbClr val="000000"/>
                          </a:solidFill>
                        </a:rPr>
                        <a:t>Gradient Boosting</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0.538</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0.694</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0.379</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lgn="l">
                        <a:buNone/>
                      </a:pPr>
                      <a:r>
                        <a:rPr lang="en-US" sz="1200" dirty="0">
                          <a:solidFill>
                            <a:srgbClr val="000000"/>
                          </a:solidFill>
                        </a:rPr>
                        <a:t>SVR (RBF)</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0.539</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0.711</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0.347</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lgn="l">
                        <a:buNone/>
                      </a:pPr>
                      <a:r>
                        <a:rPr lang="en-US" sz="1200" dirty="0">
                          <a:solidFill>
                            <a:srgbClr val="000000"/>
                          </a:solidFill>
                        </a:rPr>
                        <a:t>Linear Regression</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0.565</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0.730</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0.313</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lgn="l">
                        <a:buNone/>
                      </a:pPr>
                      <a:r>
                        <a:rPr lang="en-US" sz="1200" dirty="0">
                          <a:solidFill>
                            <a:srgbClr val="000000"/>
                          </a:solidFill>
                        </a:rPr>
                        <a:t>Decision Tree</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0.569</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0.751</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0.272</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lgn="l">
                        <a:buNone/>
                      </a:pPr>
                      <a:r>
                        <a:rPr lang="en-US" sz="1200" dirty="0">
                          <a:solidFill>
                            <a:srgbClr val="000000"/>
                          </a:solidFill>
                        </a:rPr>
                        <a:t>Mean baseline</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0.695</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0.880</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0.000</a:t>
                      </a:r>
                      <a:endParaRPr lang="en-US" sz="1200" dirty="0"/>
                    </a:p>
                  </a:txBody>
                  <a:tcPr anchor="ctr">
                    <a:lnL w="9525" cap="flat" cmpd="sng" algn="ctr">
                      <a:solidFill>
                        <a:srgbClr val="D9C3C8"/>
                      </a:solidFill>
                      <a:prstDash val="solid"/>
                      <a:round/>
                      <a:headEnd type="none" w="med" len="med"/>
                      <a:tailEnd type="none" w="med" len="med"/>
                    </a:lnL>
                    <a:lnR w="9525" cap="flat" cmpd="sng" algn="ctr">
                      <a:solidFill>
                        <a:srgbClr val="D9C3C8"/>
                      </a:solidFill>
                      <a:prstDash val="solid"/>
                      <a:round/>
                      <a:headEnd type="none" w="med" len="med"/>
                      <a:tailEnd type="none" w="med" len="med"/>
                    </a:lnR>
                    <a:lnT w="9525" cap="flat" cmpd="sng" algn="ctr">
                      <a:solidFill>
                        <a:srgbClr val="D9C3C8"/>
                      </a:solidFill>
                      <a:prstDash val="solid"/>
                      <a:round/>
                      <a:headEnd type="none" w="med" len="med"/>
                      <a:tailEnd type="none" w="med" len="med"/>
                    </a:lnT>
                    <a:lnB w="9525" cap="flat" cmpd="sng" algn="ctr">
                      <a:solidFill>
                        <a:srgbClr val="D9C3C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best model card"/>
          <p:cNvSpPr/>
          <p:nvPr/>
        </p:nvSpPr>
        <p:spPr>
          <a:xfrm>
            <a:off x="6126480" y="1371600"/>
            <a:ext cx="2560320" cy="3108960"/>
          </a:xfrm>
          <a:prstGeom prst="roundRect">
            <a:avLst>
              <a:gd name="adj" fmla="val 2857"/>
            </a:avLst>
          </a:prstGeom>
          <a:solidFill>
            <a:schemeClr val="bg2"/>
          </a:solidFill>
          <a:ln w="12700">
            <a:solidFill>
              <a:schemeClr val="bg2"/>
            </a:solidFill>
            <a:prstDash val="solid"/>
          </a:ln>
        </p:spPr>
      </p:sp>
      <p:sp>
        <p:nvSpPr>
          <p:cNvPr id="4" name="Text 3"/>
          <p:cNvSpPr txBox="1"/>
          <p:nvPr/>
        </p:nvSpPr>
        <p:spPr>
          <a:xfrm>
            <a:off x="6309360" y="1481328"/>
            <a:ext cx="2240280" cy="320040"/>
          </a:xfrm>
          <a:prstGeom prst="rect">
            <a:avLst/>
          </a:prstGeom>
          <a:noFill/>
          <a:ln/>
        </p:spPr>
        <p:txBody>
          <a:bodyPr wrap="square" lIns="0" tIns="0" rIns="0" bIns="0" rtlCol="0" anchor="t"/>
          <a:lstStyle/>
          <a:p>
            <a:pPr marL="0" indent="0">
              <a:buNone/>
            </a:pPr>
            <a:r>
              <a:rPr lang="en-US" sz="1600" b="1" dirty="0">
                <a:solidFill>
                  <a:schemeClr val="tx2"/>
                </a:solidFill>
              </a:rPr>
              <a:t>Best: tuned XGBoost</a:t>
            </a:r>
            <a:endParaRPr lang="en-US" sz="1600" dirty="0"/>
          </a:p>
        </p:txBody>
      </p:sp>
      <p:sp>
        <p:nvSpPr>
          <p:cNvPr id="8" name="Text 4"/>
          <p:cNvSpPr txBox="1"/>
          <p:nvPr/>
        </p:nvSpPr>
        <p:spPr>
          <a:xfrm>
            <a:off x="6309360" y="1874520"/>
            <a:ext cx="224028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200 trees, max depth 8</a:t>
            </a:r>
            <a:endParaRPr lang="en-US" sz="1400" dirty="0"/>
          </a:p>
          <a:p>
            <a:pPr marL="342900" indent="-342900">
              <a:spcAft>
                <a:spcPts val="800"/>
              </a:spcAft>
              <a:buSzPct val="100000"/>
              <a:buChar char="•"/>
            </a:pPr>
            <a:r>
              <a:rPr lang="en-US" sz="1400" dirty="0">
                <a:solidFill>
                  <a:schemeClr val="tx1"/>
                </a:solidFill>
              </a:rPr>
              <a:t>Learning rate 0.02, min child weight 5</a:t>
            </a:r>
            <a:endParaRPr lang="en-US" sz="1400" dirty="0"/>
          </a:p>
          <a:p>
            <a:pPr marL="342900" indent="-342900">
              <a:spcAft>
                <a:spcPts val="800"/>
              </a:spcAft>
              <a:buSzPct val="100000"/>
              <a:buChar char="•"/>
            </a:pPr>
            <a:r>
              <a:rPr lang="en-US" sz="1400" dirty="0">
                <a:solidFill>
                  <a:schemeClr val="tx1"/>
                </a:solidFill>
              </a:rPr>
              <a:t>Subsample and column sample 0.7</a:t>
            </a:r>
            <a:endParaRPr lang="en-US" sz="1400" dirty="0"/>
          </a:p>
          <a:p>
            <a:pPr marL="342900" indent="-342900">
              <a:spcAft>
                <a:spcPts val="800"/>
              </a:spcAft>
              <a:buSzPct val="100000"/>
              <a:buChar char="•"/>
            </a:pPr>
            <a:r>
              <a:rPr lang="en-US" sz="1400" dirty="0">
                <a:solidFill>
                  <a:schemeClr val="tx1"/>
                </a:solidFill>
              </a:rPr>
              <a:t>Tuning lifted R² from 0.386 to 0.407</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ctr"/>
          <a:lstStyle/>
          <a:p>
            <a:pPr marL="0" indent="0" algn="l">
              <a:buNone/>
            </a:pPr>
            <a:r>
              <a:rPr lang="en-US" sz="3200" b="1" dirty="0">
                <a:solidFill>
                  <a:schemeClr val="tx2"/>
                </a:solidFill>
              </a:rPr>
              <a:t>Evaluation</a:t>
            </a:r>
            <a:endParaRPr lang="en-US" sz="3200" dirty="0"/>
          </a:p>
        </p:txBody>
      </p:sp>
      <p:sp>
        <p:nvSpPr>
          <p:cNvPr id="3" name="Text 1"/>
          <p:cNvSpPr txBox="1"/>
          <p:nvPr/>
        </p:nvSpPr>
        <p:spPr>
          <a:xfrm>
            <a:off x="457200" y="868680"/>
            <a:ext cx="8229600" cy="320040"/>
          </a:xfrm>
          <a:prstGeom prst="rect">
            <a:avLst/>
          </a:prstGeom>
          <a:noFill/>
          <a:ln/>
        </p:spPr>
        <p:txBody>
          <a:bodyPr wrap="square" lIns="0" tIns="0" rIns="0" bIns="0" rtlCol="0" anchor="t"/>
          <a:lstStyle/>
          <a:p>
            <a:pPr marL="0" indent="0">
              <a:buNone/>
            </a:pPr>
            <a:r>
              <a:rPr lang="en-US" sz="1600" i="1" dirty="0">
                <a:solidFill>
                  <a:schemeClr val="accent3"/>
                </a:solidFill>
              </a:rPr>
              <a:t>On unseen wines the model is off by about half a quality point</a:t>
            </a:r>
            <a:endParaRPr lang="en-US" sz="1600" dirty="0"/>
          </a:p>
        </p:txBody>
      </p:sp>
      <p:sp>
        <p:nvSpPr>
          <p:cNvPr id="5" name="metric card MAE"/>
          <p:cNvSpPr/>
          <p:nvPr/>
        </p:nvSpPr>
        <p:spPr>
          <a:xfrm>
            <a:off x="457200" y="1371600"/>
            <a:ext cx="1965960" cy="1234440"/>
          </a:xfrm>
          <a:prstGeom prst="roundRect">
            <a:avLst>
              <a:gd name="adj" fmla="val 5926"/>
            </a:avLst>
          </a:prstGeom>
          <a:solidFill>
            <a:schemeClr val="bg2"/>
          </a:solidFill>
          <a:ln w="12700">
            <a:solidFill>
              <a:schemeClr val="bg2"/>
            </a:solidFill>
            <a:prstDash val="solid"/>
          </a:ln>
        </p:spPr>
      </p:sp>
      <p:sp>
        <p:nvSpPr>
          <p:cNvPr id="6" name="Text 3"/>
          <p:cNvSpPr txBox="1"/>
          <p:nvPr/>
        </p:nvSpPr>
        <p:spPr>
          <a:xfrm>
            <a:off x="457200" y="1481328"/>
            <a:ext cx="1965960" cy="640080"/>
          </a:xfrm>
          <a:prstGeom prst="rect">
            <a:avLst/>
          </a:prstGeom>
          <a:noFill/>
          <a:ln/>
        </p:spPr>
        <p:txBody>
          <a:bodyPr wrap="square" lIns="0" tIns="0" rIns="0" bIns="0" rtlCol="0" anchor="ctr"/>
          <a:lstStyle/>
          <a:p>
            <a:pPr marL="0" indent="0" algn="ctr">
              <a:buNone/>
            </a:pPr>
            <a:r>
              <a:rPr lang="en-US" sz="3600" b="1" dirty="0">
                <a:solidFill>
                  <a:schemeClr val="tx2"/>
                </a:solidFill>
                <a:latin typeface="Cambria" pitchFamily="34" charset="0"/>
                <a:ea typeface="Cambria" pitchFamily="34" charset="-122"/>
                <a:cs typeface="Cambria" pitchFamily="34" charset="-120"/>
              </a:rPr>
              <a:t>0.524</a:t>
            </a:r>
            <a:endParaRPr lang="en-US" sz="3600" dirty="0"/>
          </a:p>
        </p:txBody>
      </p:sp>
      <p:sp>
        <p:nvSpPr>
          <p:cNvPr id="7" name="Text 4"/>
          <p:cNvSpPr txBox="1"/>
          <p:nvPr/>
        </p:nvSpPr>
        <p:spPr>
          <a:xfrm>
            <a:off x="457200" y="2148840"/>
            <a:ext cx="1965960" cy="320040"/>
          </a:xfrm>
          <a:prstGeom prst="rect">
            <a:avLst/>
          </a:prstGeom>
          <a:noFill/>
          <a:ln/>
        </p:spPr>
        <p:txBody>
          <a:bodyPr wrap="square" lIns="0" tIns="0" rIns="0" bIns="0" rtlCol="0" anchor="t"/>
          <a:lstStyle/>
          <a:p>
            <a:pPr marL="0" indent="0" algn="ctr">
              <a:buNone/>
            </a:pPr>
            <a:r>
              <a:rPr lang="en-US" sz="1600" dirty="0">
                <a:solidFill>
                  <a:schemeClr val="tx1"/>
                </a:solidFill>
              </a:rPr>
              <a:t>MAE</a:t>
            </a:r>
            <a:endParaRPr lang="en-US" sz="1600" dirty="0"/>
          </a:p>
        </p:txBody>
      </p:sp>
      <p:sp>
        <p:nvSpPr>
          <p:cNvPr id="8" name="metric card MSE"/>
          <p:cNvSpPr/>
          <p:nvPr/>
        </p:nvSpPr>
        <p:spPr>
          <a:xfrm>
            <a:off x="2560320" y="1371600"/>
            <a:ext cx="1965960" cy="1234440"/>
          </a:xfrm>
          <a:prstGeom prst="roundRect">
            <a:avLst>
              <a:gd name="adj" fmla="val 5926"/>
            </a:avLst>
          </a:prstGeom>
          <a:solidFill>
            <a:schemeClr val="bg2"/>
          </a:solidFill>
          <a:ln w="12700">
            <a:solidFill>
              <a:schemeClr val="bg2"/>
            </a:solidFill>
            <a:prstDash val="solid"/>
          </a:ln>
        </p:spPr>
      </p:sp>
      <p:sp>
        <p:nvSpPr>
          <p:cNvPr id="9" name="Text 6"/>
          <p:cNvSpPr txBox="1"/>
          <p:nvPr/>
        </p:nvSpPr>
        <p:spPr>
          <a:xfrm>
            <a:off x="2560320" y="1481328"/>
            <a:ext cx="1965960" cy="640080"/>
          </a:xfrm>
          <a:prstGeom prst="rect">
            <a:avLst/>
          </a:prstGeom>
          <a:noFill/>
          <a:ln/>
        </p:spPr>
        <p:txBody>
          <a:bodyPr wrap="square" lIns="0" tIns="0" rIns="0" bIns="0" rtlCol="0" anchor="ctr"/>
          <a:lstStyle/>
          <a:p>
            <a:pPr marL="0" indent="0" algn="ctr">
              <a:buNone/>
            </a:pPr>
            <a:r>
              <a:rPr lang="en-US" sz="3600" b="1" dirty="0">
                <a:solidFill>
                  <a:schemeClr val="tx2"/>
                </a:solidFill>
                <a:latin typeface="Cambria" pitchFamily="34" charset="0"/>
                <a:ea typeface="Cambria" pitchFamily="34" charset="-122"/>
                <a:cs typeface="Cambria" pitchFamily="34" charset="-120"/>
              </a:rPr>
              <a:t>0.460</a:t>
            </a:r>
            <a:endParaRPr lang="en-US" sz="3600" dirty="0"/>
          </a:p>
        </p:txBody>
      </p:sp>
      <p:sp>
        <p:nvSpPr>
          <p:cNvPr id="10" name="Text 7"/>
          <p:cNvSpPr txBox="1"/>
          <p:nvPr/>
        </p:nvSpPr>
        <p:spPr>
          <a:xfrm>
            <a:off x="2560320" y="2148840"/>
            <a:ext cx="1965960" cy="320040"/>
          </a:xfrm>
          <a:prstGeom prst="rect">
            <a:avLst/>
          </a:prstGeom>
          <a:noFill/>
          <a:ln/>
        </p:spPr>
        <p:txBody>
          <a:bodyPr wrap="square" lIns="0" tIns="0" rIns="0" bIns="0" rtlCol="0" anchor="t"/>
          <a:lstStyle/>
          <a:p>
            <a:pPr marL="0" indent="0" algn="ctr">
              <a:buNone/>
            </a:pPr>
            <a:r>
              <a:rPr lang="en-US" sz="1600" dirty="0">
                <a:solidFill>
                  <a:schemeClr val="tx1"/>
                </a:solidFill>
              </a:rPr>
              <a:t>MSE</a:t>
            </a:r>
            <a:endParaRPr lang="en-US" sz="1600" dirty="0"/>
          </a:p>
        </p:txBody>
      </p:sp>
      <p:sp>
        <p:nvSpPr>
          <p:cNvPr id="11" name="metric card RMSE"/>
          <p:cNvSpPr/>
          <p:nvPr/>
        </p:nvSpPr>
        <p:spPr>
          <a:xfrm>
            <a:off x="457200" y="2743200"/>
            <a:ext cx="1965960" cy="1234440"/>
          </a:xfrm>
          <a:prstGeom prst="roundRect">
            <a:avLst>
              <a:gd name="adj" fmla="val 5926"/>
            </a:avLst>
          </a:prstGeom>
          <a:solidFill>
            <a:schemeClr val="bg2"/>
          </a:solidFill>
          <a:ln w="12700">
            <a:solidFill>
              <a:schemeClr val="bg2"/>
            </a:solidFill>
            <a:prstDash val="solid"/>
          </a:ln>
        </p:spPr>
      </p:sp>
      <p:sp>
        <p:nvSpPr>
          <p:cNvPr id="12" name="Text 9"/>
          <p:cNvSpPr txBox="1"/>
          <p:nvPr/>
        </p:nvSpPr>
        <p:spPr>
          <a:xfrm>
            <a:off x="457200" y="2852928"/>
            <a:ext cx="1965960" cy="640080"/>
          </a:xfrm>
          <a:prstGeom prst="rect">
            <a:avLst/>
          </a:prstGeom>
          <a:noFill/>
          <a:ln/>
        </p:spPr>
        <p:txBody>
          <a:bodyPr wrap="square" lIns="0" tIns="0" rIns="0" bIns="0" rtlCol="0" anchor="ctr"/>
          <a:lstStyle/>
          <a:p>
            <a:pPr marL="0" indent="0" algn="ctr">
              <a:buNone/>
            </a:pPr>
            <a:r>
              <a:rPr lang="en-US" sz="3600" b="1" dirty="0">
                <a:solidFill>
                  <a:schemeClr val="tx2"/>
                </a:solidFill>
                <a:latin typeface="Cambria" pitchFamily="34" charset="0"/>
                <a:ea typeface="Cambria" pitchFamily="34" charset="-122"/>
                <a:cs typeface="Cambria" pitchFamily="34" charset="-120"/>
              </a:rPr>
              <a:t>0.678</a:t>
            </a:r>
            <a:endParaRPr lang="en-US" sz="3600" dirty="0"/>
          </a:p>
        </p:txBody>
      </p:sp>
      <p:sp>
        <p:nvSpPr>
          <p:cNvPr id="13" name="Text 10"/>
          <p:cNvSpPr txBox="1"/>
          <p:nvPr/>
        </p:nvSpPr>
        <p:spPr>
          <a:xfrm>
            <a:off x="457200" y="3520440"/>
            <a:ext cx="1965960" cy="320040"/>
          </a:xfrm>
          <a:prstGeom prst="rect">
            <a:avLst/>
          </a:prstGeom>
          <a:noFill/>
          <a:ln/>
        </p:spPr>
        <p:txBody>
          <a:bodyPr wrap="square" lIns="0" tIns="0" rIns="0" bIns="0" rtlCol="0" anchor="t"/>
          <a:lstStyle/>
          <a:p>
            <a:pPr marL="0" indent="0" algn="ctr">
              <a:buNone/>
            </a:pPr>
            <a:r>
              <a:rPr lang="en-US" sz="1600" dirty="0">
                <a:solidFill>
                  <a:schemeClr val="tx1"/>
                </a:solidFill>
              </a:rPr>
              <a:t>RMSE</a:t>
            </a:r>
            <a:endParaRPr lang="en-US" sz="1600" dirty="0"/>
          </a:p>
        </p:txBody>
      </p:sp>
      <p:sp>
        <p:nvSpPr>
          <p:cNvPr id="14" name="metric card R²"/>
          <p:cNvSpPr/>
          <p:nvPr/>
        </p:nvSpPr>
        <p:spPr>
          <a:xfrm>
            <a:off x="2560320" y="2743200"/>
            <a:ext cx="1965960" cy="1234440"/>
          </a:xfrm>
          <a:prstGeom prst="roundRect">
            <a:avLst>
              <a:gd name="adj" fmla="val 5926"/>
            </a:avLst>
          </a:prstGeom>
          <a:solidFill>
            <a:schemeClr val="bg2"/>
          </a:solidFill>
          <a:ln w="12700">
            <a:solidFill>
              <a:schemeClr val="bg2"/>
            </a:solidFill>
            <a:prstDash val="solid"/>
          </a:ln>
        </p:spPr>
      </p:sp>
      <p:sp>
        <p:nvSpPr>
          <p:cNvPr id="15" name="Text 12"/>
          <p:cNvSpPr txBox="1"/>
          <p:nvPr/>
        </p:nvSpPr>
        <p:spPr>
          <a:xfrm>
            <a:off x="2560320" y="2852928"/>
            <a:ext cx="1965960" cy="640080"/>
          </a:xfrm>
          <a:prstGeom prst="rect">
            <a:avLst/>
          </a:prstGeom>
          <a:noFill/>
          <a:ln/>
        </p:spPr>
        <p:txBody>
          <a:bodyPr wrap="square" lIns="0" tIns="0" rIns="0" bIns="0" rtlCol="0" anchor="ctr"/>
          <a:lstStyle/>
          <a:p>
            <a:pPr marL="0" indent="0" algn="ctr">
              <a:buNone/>
            </a:pPr>
            <a:r>
              <a:rPr lang="en-US" sz="3600" b="1" dirty="0">
                <a:solidFill>
                  <a:schemeClr val="tx2"/>
                </a:solidFill>
                <a:latin typeface="Cambria" pitchFamily="34" charset="0"/>
                <a:ea typeface="Cambria" pitchFamily="34" charset="-122"/>
                <a:cs typeface="Cambria" pitchFamily="34" charset="-120"/>
              </a:rPr>
              <a:t>0.407</a:t>
            </a:r>
            <a:endParaRPr lang="en-US" sz="3600" dirty="0"/>
          </a:p>
        </p:txBody>
      </p:sp>
      <p:sp>
        <p:nvSpPr>
          <p:cNvPr id="16" name="Text 13"/>
          <p:cNvSpPr txBox="1"/>
          <p:nvPr/>
        </p:nvSpPr>
        <p:spPr>
          <a:xfrm>
            <a:off x="2560320" y="3520440"/>
            <a:ext cx="1965960" cy="320040"/>
          </a:xfrm>
          <a:prstGeom prst="rect">
            <a:avLst/>
          </a:prstGeom>
          <a:noFill/>
          <a:ln/>
        </p:spPr>
        <p:txBody>
          <a:bodyPr wrap="square" lIns="0" tIns="0" rIns="0" bIns="0" rtlCol="0" anchor="t"/>
          <a:lstStyle/>
          <a:p>
            <a:pPr marL="0" indent="0" algn="ctr">
              <a:buNone/>
            </a:pPr>
            <a:r>
              <a:rPr lang="en-US" sz="1600" dirty="0">
                <a:solidFill>
                  <a:schemeClr val="tx1"/>
                </a:solidFill>
              </a:rPr>
              <a:t>R²</a:t>
            </a:r>
            <a:endParaRPr lang="en-US" sz="1600" dirty="0"/>
          </a:p>
        </p:txBody>
      </p:sp>
      <p:sp>
        <p:nvSpPr>
          <p:cNvPr id="17" name="Text 14"/>
          <p:cNvSpPr txBox="1"/>
          <p:nvPr/>
        </p:nvSpPr>
        <p:spPr>
          <a:xfrm>
            <a:off x="457200" y="4160520"/>
            <a:ext cx="4114800" cy="685800"/>
          </a:xfrm>
          <a:prstGeom prst="rect">
            <a:avLst/>
          </a:prstGeom>
          <a:noFill/>
          <a:ln/>
        </p:spPr>
        <p:txBody>
          <a:bodyPr wrap="square" lIns="0" tIns="0" rIns="0" bIns="0" rtlCol="0" anchor="t"/>
          <a:lstStyle/>
          <a:p>
            <a:pPr marL="0" indent="0">
              <a:buNone/>
            </a:pPr>
            <a:r>
              <a:rPr lang="en-US" sz="1400" b="1" dirty="0">
                <a:solidFill>
                  <a:schemeClr val="accent3"/>
                </a:solidFill>
              </a:rPr>
              <a:t>97.3% of predictions land within ±1 point</a:t>
            </a:r>
            <a:endParaRPr lang="en-US" sz="1400" dirty="0"/>
          </a:p>
          <a:p>
            <a:pPr marL="0" indent="0">
              <a:buNone/>
            </a:pPr>
            <a:r>
              <a:rPr lang="en-US" sz="1400" b="1" dirty="0">
                <a:solidFill>
                  <a:schemeClr val="accent3"/>
                </a:solidFill>
              </a:rPr>
              <a:t>55.6% exact after rounding</a:t>
            </a:r>
            <a:endParaRPr lang="en-US" sz="1400" dirty="0"/>
          </a:p>
          <a:p>
            <a:pPr marL="0" indent="0">
              <a:buNone/>
            </a:pPr>
            <a:r>
              <a:rPr lang="en-US" sz="1400" b="1" dirty="0">
                <a:solidFill>
                  <a:schemeClr val="accent3"/>
                </a:solidFill>
              </a:rPr>
              <a:t>24.5% lower MAE than the mean baseline</a:t>
            </a:r>
            <a:endParaRPr lang="en-US" sz="1400" dirty="0"/>
          </a:p>
        </p:txBody>
      </p:sp>
      <p:graphicFrame>
        <p:nvGraphicFramePr>
          <p:cNvPr id="18" name="Chart 0"/>
          <p:cNvGraphicFramePr/>
          <p:nvPr/>
        </p:nvGraphicFramePr>
        <p:xfrm>
          <a:off x="4754880" y="1325880"/>
          <a:ext cx="3931920" cy="32918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ctr"/>
          <a:lstStyle/>
          <a:p>
            <a:pPr marL="0" indent="0" algn="l">
              <a:buNone/>
            </a:pPr>
            <a:r>
              <a:rPr lang="en-US" sz="3200" b="1" dirty="0">
                <a:solidFill>
                  <a:schemeClr val="tx2"/>
                </a:solidFill>
              </a:rPr>
              <a:t>Results and Interpretation</a:t>
            </a:r>
            <a:endParaRPr lang="en-US" sz="3200" dirty="0"/>
          </a:p>
        </p:txBody>
      </p:sp>
      <p:sp>
        <p:nvSpPr>
          <p:cNvPr id="3" name="Text 1"/>
          <p:cNvSpPr txBox="1"/>
          <p:nvPr/>
        </p:nvSpPr>
        <p:spPr>
          <a:xfrm>
            <a:off x="457200" y="868680"/>
            <a:ext cx="8229600" cy="320040"/>
          </a:xfrm>
          <a:prstGeom prst="rect">
            <a:avLst/>
          </a:prstGeom>
          <a:noFill/>
          <a:ln/>
        </p:spPr>
        <p:txBody>
          <a:bodyPr wrap="square" lIns="0" tIns="0" rIns="0" bIns="0" rtlCol="0" anchor="t"/>
          <a:lstStyle/>
          <a:p>
            <a:pPr marL="0" indent="0">
              <a:buNone/>
            </a:pPr>
            <a:r>
              <a:rPr lang="en-US" sz="1600" i="1" dirty="0">
                <a:solidFill>
                  <a:schemeClr val="accent3"/>
                </a:solidFill>
              </a:rPr>
              <a:t>Predictions track the truth, except for the rarest wines</a:t>
            </a:r>
            <a:endParaRPr lang="en-US" sz="1600" dirty="0"/>
          </a:p>
        </p:txBody>
      </p:sp>
      <p:pic>
        <p:nvPicPr>
          <p:cNvPr id="5" name="results figure" descr="Actual vs predicted, residuals and error by true quality score"/>
          <p:cNvPicPr>
            <a:picLocks noChangeAspect="1"/>
          </p:cNvPicPr>
          <p:nvPr/>
        </p:nvPicPr>
        <p:blipFill>
          <a:blip r:embed="rId3"/>
          <a:stretch>
            <a:fillRect/>
          </a:stretch>
        </p:blipFill>
        <p:spPr>
          <a:xfrm>
            <a:off x="457200" y="1280160"/>
            <a:ext cx="8229600" cy="2142439"/>
          </a:xfrm>
          <a:prstGeom prst="rect">
            <a:avLst/>
          </a:prstGeom>
        </p:spPr>
      </p:pic>
      <p:sp>
        <p:nvSpPr>
          <p:cNvPr id="6" name="insight 0"/>
          <p:cNvSpPr/>
          <p:nvPr/>
        </p:nvSpPr>
        <p:spPr>
          <a:xfrm>
            <a:off x="457200" y="3566160"/>
            <a:ext cx="2651760" cy="1280160"/>
          </a:xfrm>
          <a:prstGeom prst="roundRect">
            <a:avLst>
              <a:gd name="adj" fmla="val 5714"/>
            </a:avLst>
          </a:prstGeom>
          <a:solidFill>
            <a:schemeClr val="bg2"/>
          </a:solidFill>
          <a:ln w="12700">
            <a:solidFill>
              <a:schemeClr val="bg2"/>
            </a:solidFill>
            <a:prstDash val="solid"/>
          </a:ln>
        </p:spPr>
      </p:sp>
      <p:sp>
        <p:nvSpPr>
          <p:cNvPr id="7" name="Text 3"/>
          <p:cNvSpPr txBox="1"/>
          <p:nvPr/>
        </p:nvSpPr>
        <p:spPr>
          <a:xfrm>
            <a:off x="594360" y="3630168"/>
            <a:ext cx="2377440" cy="274320"/>
          </a:xfrm>
          <a:prstGeom prst="rect">
            <a:avLst/>
          </a:prstGeom>
          <a:noFill/>
          <a:ln/>
        </p:spPr>
        <p:txBody>
          <a:bodyPr wrap="square" lIns="0" tIns="0" rIns="0" bIns="0" rtlCol="0" anchor="t"/>
          <a:lstStyle/>
          <a:p>
            <a:pPr marL="0" indent="0">
              <a:buNone/>
            </a:pPr>
            <a:r>
              <a:rPr lang="en-US" sz="1500" b="1" dirty="0">
                <a:solidFill>
                  <a:schemeClr val="tx2"/>
                </a:solidFill>
              </a:rPr>
              <a:t>Alcohol drives quality</a:t>
            </a:r>
            <a:endParaRPr lang="en-US" sz="1500" dirty="0"/>
          </a:p>
        </p:txBody>
      </p:sp>
      <p:sp>
        <p:nvSpPr>
          <p:cNvPr id="8" name="Text 4"/>
          <p:cNvSpPr txBox="1"/>
          <p:nvPr/>
        </p:nvSpPr>
        <p:spPr>
          <a:xfrm>
            <a:off x="594360" y="3904488"/>
            <a:ext cx="2377440" cy="914400"/>
          </a:xfrm>
          <a:prstGeom prst="rect">
            <a:avLst/>
          </a:prstGeom>
          <a:noFill/>
          <a:ln/>
        </p:spPr>
        <p:txBody>
          <a:bodyPr wrap="square" lIns="0" tIns="0" rIns="0" bIns="0" rtlCol="0" anchor="t"/>
          <a:lstStyle/>
          <a:p>
            <a:pPr marL="0" indent="0">
              <a:buNone/>
            </a:pPr>
            <a:r>
              <a:rPr lang="en-US" sz="1400" dirty="0">
                <a:solidFill>
                  <a:schemeClr val="tx1"/>
                </a:solidFill>
              </a:rPr>
              <a:t>Most important feature (importance 0.22), then free sulfur dioxide and volatile acidity.</a:t>
            </a:r>
            <a:endParaRPr lang="en-US" sz="1400" dirty="0"/>
          </a:p>
        </p:txBody>
      </p:sp>
      <p:sp>
        <p:nvSpPr>
          <p:cNvPr id="9" name="insight 1"/>
          <p:cNvSpPr/>
          <p:nvPr/>
        </p:nvSpPr>
        <p:spPr>
          <a:xfrm>
            <a:off x="3246120" y="3566160"/>
            <a:ext cx="2651760" cy="1280160"/>
          </a:xfrm>
          <a:prstGeom prst="roundRect">
            <a:avLst>
              <a:gd name="adj" fmla="val 5714"/>
            </a:avLst>
          </a:prstGeom>
          <a:solidFill>
            <a:schemeClr val="bg2"/>
          </a:solidFill>
          <a:ln w="12700">
            <a:solidFill>
              <a:schemeClr val="bg2"/>
            </a:solidFill>
            <a:prstDash val="solid"/>
          </a:ln>
        </p:spPr>
      </p:sp>
      <p:sp>
        <p:nvSpPr>
          <p:cNvPr id="10" name="Text 6"/>
          <p:cNvSpPr txBox="1"/>
          <p:nvPr/>
        </p:nvSpPr>
        <p:spPr>
          <a:xfrm>
            <a:off x="3383280" y="3630168"/>
            <a:ext cx="2377440" cy="274320"/>
          </a:xfrm>
          <a:prstGeom prst="rect">
            <a:avLst/>
          </a:prstGeom>
          <a:noFill/>
          <a:ln/>
        </p:spPr>
        <p:txBody>
          <a:bodyPr wrap="square" lIns="0" tIns="0" rIns="0" bIns="0" rtlCol="0" anchor="t"/>
          <a:lstStyle/>
          <a:p>
            <a:pPr marL="0" indent="0">
              <a:buNone/>
            </a:pPr>
            <a:r>
              <a:rPr lang="en-US" sz="1500" b="1" dirty="0">
                <a:solidFill>
                  <a:schemeClr val="tx2"/>
                </a:solidFill>
              </a:rPr>
              <a:t>Extremes are hard</a:t>
            </a:r>
            <a:endParaRPr lang="en-US" sz="1500" dirty="0"/>
          </a:p>
        </p:txBody>
      </p:sp>
      <p:sp>
        <p:nvSpPr>
          <p:cNvPr id="11" name="Text 7"/>
          <p:cNvSpPr txBox="1"/>
          <p:nvPr/>
        </p:nvSpPr>
        <p:spPr>
          <a:xfrm>
            <a:off x="3383280" y="3904488"/>
            <a:ext cx="2377440" cy="914400"/>
          </a:xfrm>
          <a:prstGeom prst="rect">
            <a:avLst/>
          </a:prstGeom>
          <a:noFill/>
          <a:ln/>
        </p:spPr>
        <p:txBody>
          <a:bodyPr wrap="square" lIns="0" tIns="0" rIns="0" bIns="0" rtlCol="0" anchor="t"/>
          <a:lstStyle/>
          <a:p>
            <a:pPr marL="0" indent="0">
              <a:buNone/>
            </a:pPr>
            <a:r>
              <a:rPr lang="en-US" sz="1400" dirty="0">
                <a:solidFill>
                  <a:schemeClr val="tx1"/>
                </a:solidFill>
              </a:rPr>
              <a:t>MAE about 0.4 for scores 5-6, but 2.2 for score 3 and 3.5 for score 9.</a:t>
            </a:r>
            <a:endParaRPr lang="en-US" sz="1400" dirty="0"/>
          </a:p>
        </p:txBody>
      </p:sp>
      <p:sp>
        <p:nvSpPr>
          <p:cNvPr id="12" name="insight 2"/>
          <p:cNvSpPr/>
          <p:nvPr/>
        </p:nvSpPr>
        <p:spPr>
          <a:xfrm>
            <a:off x="6035040" y="3566160"/>
            <a:ext cx="2651760" cy="1280160"/>
          </a:xfrm>
          <a:prstGeom prst="roundRect">
            <a:avLst>
              <a:gd name="adj" fmla="val 5714"/>
            </a:avLst>
          </a:prstGeom>
          <a:solidFill>
            <a:schemeClr val="bg2"/>
          </a:solidFill>
          <a:ln w="12700">
            <a:solidFill>
              <a:schemeClr val="bg2"/>
            </a:solidFill>
            <a:prstDash val="solid"/>
          </a:ln>
        </p:spPr>
      </p:sp>
      <p:sp>
        <p:nvSpPr>
          <p:cNvPr id="13" name="Text 9"/>
          <p:cNvSpPr txBox="1"/>
          <p:nvPr/>
        </p:nvSpPr>
        <p:spPr>
          <a:xfrm>
            <a:off x="6172200" y="3630168"/>
            <a:ext cx="2377440" cy="274320"/>
          </a:xfrm>
          <a:prstGeom prst="rect">
            <a:avLst/>
          </a:prstGeom>
          <a:noFill/>
          <a:ln/>
        </p:spPr>
        <p:txBody>
          <a:bodyPr wrap="square" lIns="0" tIns="0" rIns="0" bIns="0" rtlCol="0" anchor="t"/>
          <a:lstStyle/>
          <a:p>
            <a:pPr marL="0" indent="0">
              <a:buNone/>
            </a:pPr>
            <a:r>
              <a:rPr lang="en-US" sz="1500" b="1" dirty="0">
                <a:solidFill>
                  <a:schemeClr val="tx2"/>
                </a:solidFill>
              </a:rPr>
              <a:t>Moderate R²</a:t>
            </a:r>
            <a:endParaRPr lang="en-US" sz="1500" dirty="0"/>
          </a:p>
        </p:txBody>
      </p:sp>
      <p:sp>
        <p:nvSpPr>
          <p:cNvPr id="14" name="Text 10"/>
          <p:cNvSpPr txBox="1"/>
          <p:nvPr/>
        </p:nvSpPr>
        <p:spPr>
          <a:xfrm>
            <a:off x="6172200" y="3904488"/>
            <a:ext cx="2377440" cy="914400"/>
          </a:xfrm>
          <a:prstGeom prst="rect">
            <a:avLst/>
          </a:prstGeom>
          <a:noFill/>
          <a:ln/>
        </p:spPr>
        <p:txBody>
          <a:bodyPr wrap="square" lIns="0" tIns="0" rIns="0" bIns="0" rtlCol="0" anchor="t"/>
          <a:lstStyle/>
          <a:p>
            <a:pPr marL="0" indent="0">
              <a:buNone/>
            </a:pPr>
            <a:r>
              <a:rPr lang="en-US" sz="1400" dirty="0">
                <a:solidFill>
                  <a:schemeClr val="tx1"/>
                </a:solidFill>
              </a:rPr>
              <a:t>Taste is subjective; grape type, brand and tasters are not in the data.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ctr"/>
          <a:lstStyle/>
          <a:p>
            <a:pPr marL="0" indent="0" algn="l">
              <a:buNone/>
            </a:pPr>
            <a:r>
              <a:rPr lang="en-US" sz="3200" b="1" dirty="0">
                <a:solidFill>
                  <a:schemeClr val="bg1"/>
                </a:solidFill>
              </a:rPr>
              <a:t>Conclusion</a:t>
            </a:r>
            <a:endParaRPr lang="en-US" sz="3200" dirty="0"/>
          </a:p>
        </p:txBody>
      </p:sp>
      <p:sp>
        <p:nvSpPr>
          <p:cNvPr id="3" name="Text 1"/>
          <p:cNvSpPr txBox="1"/>
          <p:nvPr/>
        </p:nvSpPr>
        <p:spPr>
          <a:xfrm>
            <a:off x="457200" y="1097280"/>
            <a:ext cx="4023360" cy="320040"/>
          </a:xfrm>
          <a:prstGeom prst="rect">
            <a:avLst/>
          </a:prstGeom>
          <a:noFill/>
          <a:ln/>
        </p:spPr>
        <p:txBody>
          <a:bodyPr wrap="square" lIns="0" tIns="0" rIns="0" bIns="0" rtlCol="0" anchor="t"/>
          <a:lstStyle/>
          <a:p>
            <a:pPr marL="0" indent="0">
              <a:buNone/>
            </a:pPr>
            <a:r>
              <a:rPr lang="en-US" sz="2000" b="1" dirty="0">
                <a:solidFill>
                  <a:schemeClr val="accent2"/>
                </a:solidFill>
              </a:rPr>
              <a:t>What we found</a:t>
            </a:r>
            <a:endParaRPr lang="en-US" sz="2000" dirty="0"/>
          </a:p>
        </p:txBody>
      </p:sp>
      <p:sp>
        <p:nvSpPr>
          <p:cNvPr id="4" name="Text 2"/>
          <p:cNvSpPr txBox="1"/>
          <p:nvPr/>
        </p:nvSpPr>
        <p:spPr>
          <a:xfrm>
            <a:off x="457200" y="1508760"/>
            <a:ext cx="402336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Chemistry predicts wine quality moderately: tuned XGBoost reaches MAE 0.52 and R² 0.41</a:t>
            </a:r>
            <a:endParaRPr lang="en-US" sz="1600" dirty="0"/>
          </a:p>
          <a:p>
            <a:pPr marL="342900" indent="-342900">
              <a:spcAft>
                <a:spcPts val="1000"/>
              </a:spcAft>
              <a:buSzPct val="100000"/>
              <a:buChar char="•"/>
            </a:pPr>
            <a:r>
              <a:rPr lang="en-US" sz="1600" dirty="0">
                <a:solidFill>
                  <a:schemeClr val="bg1"/>
                </a:solidFill>
              </a:rPr>
              <a:t>Ensembles beat linear models, so the link is non-linear</a:t>
            </a:r>
            <a:endParaRPr lang="en-US" sz="1600" dirty="0"/>
          </a:p>
          <a:p>
            <a:pPr marL="342900" indent="-342900">
              <a:spcAft>
                <a:spcPts val="1000"/>
              </a:spcAft>
              <a:buSzPct val="100000"/>
              <a:buChar char="•"/>
            </a:pPr>
            <a:r>
              <a:rPr lang="en-US" sz="1600" dirty="0">
                <a:solidFill>
                  <a:schemeClr val="bg1"/>
                </a:solidFill>
              </a:rPr>
              <a:t>Alcohol, free sulfur dioxide and volatile acidity matter most</a:t>
            </a:r>
            <a:endParaRPr lang="en-US" sz="1600" dirty="0"/>
          </a:p>
        </p:txBody>
      </p:sp>
      <p:sp>
        <p:nvSpPr>
          <p:cNvPr id="5" name="Text 3"/>
          <p:cNvSpPr txBox="1"/>
          <p:nvPr/>
        </p:nvSpPr>
        <p:spPr>
          <a:xfrm>
            <a:off x="4846320" y="1097280"/>
            <a:ext cx="3840480" cy="320040"/>
          </a:xfrm>
          <a:prstGeom prst="rect">
            <a:avLst/>
          </a:prstGeom>
          <a:noFill/>
          <a:ln/>
        </p:spPr>
        <p:txBody>
          <a:bodyPr wrap="square" lIns="0" tIns="0" rIns="0" bIns="0" rtlCol="0" anchor="t"/>
          <a:lstStyle/>
          <a:p>
            <a:pPr marL="0" indent="0">
              <a:buNone/>
            </a:pPr>
            <a:r>
              <a:rPr lang="en-US" sz="2000" b="1" dirty="0">
                <a:solidFill>
                  <a:schemeClr val="accent2"/>
                </a:solidFill>
              </a:rPr>
              <a:t>Limits and next steps</a:t>
            </a:r>
            <a:endParaRPr lang="en-US" sz="2000" dirty="0"/>
          </a:p>
        </p:txBody>
      </p:sp>
      <p:sp>
        <p:nvSpPr>
          <p:cNvPr id="6" name="Text 4"/>
          <p:cNvSpPr txBox="1"/>
          <p:nvPr/>
        </p:nvSpPr>
        <p:spPr>
          <a:xfrm>
            <a:off x="4846320" y="1508760"/>
            <a:ext cx="384048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Imbalanced target: try class weights, SMOTE or ordinal classification</a:t>
            </a:r>
            <a:endParaRPr lang="en-US" sz="1600" dirty="0"/>
          </a:p>
          <a:p>
            <a:pPr marL="342900" indent="-342900">
              <a:spcAft>
                <a:spcPts val="1000"/>
              </a:spcAft>
              <a:buSzPct val="100000"/>
              <a:buChar char="•"/>
            </a:pPr>
            <a:r>
              <a:rPr lang="en-US" sz="1600" dirty="0">
                <a:solidFill>
                  <a:schemeClr val="bg1"/>
                </a:solidFill>
              </a:rPr>
              <a:t>One region only (vinho verde), so results may not transfer</a:t>
            </a:r>
            <a:endParaRPr lang="en-US" sz="1600" dirty="0"/>
          </a:p>
          <a:p>
            <a:pPr marL="342900" indent="-342900">
              <a:spcAft>
                <a:spcPts val="1000"/>
              </a:spcAft>
              <a:buSzPct val="100000"/>
              <a:buChar char="•"/>
            </a:pPr>
            <a:r>
              <a:rPr lang="en-US" sz="1600" dirty="0">
                <a:solidFill>
                  <a:schemeClr val="bg1"/>
                </a:solidFill>
              </a:rPr>
              <a:t>Try SHAP, LightGBM and CatBoost</a:t>
            </a:r>
            <a:endParaRPr lang="en-US" sz="1600" dirty="0"/>
          </a:p>
        </p:txBody>
      </p:sp>
      <p:sp>
        <p:nvSpPr>
          <p:cNvPr id="7" name="Text 5"/>
          <p:cNvSpPr txBox="1"/>
          <p:nvPr/>
        </p:nvSpPr>
        <p:spPr>
          <a:xfrm>
            <a:off x="457200" y="4572000"/>
            <a:ext cx="8229600" cy="274320"/>
          </a:xfrm>
          <a:prstGeom prst="rect">
            <a:avLst/>
          </a:prstGeom>
          <a:noFill/>
          <a:ln/>
        </p:spPr>
        <p:txBody>
          <a:bodyPr wrap="square" lIns="0" tIns="0" rIns="0" bIns="0" rtlCol="0" anchor="t"/>
          <a:lstStyle/>
          <a:p>
            <a:pPr marL="0" indent="0">
              <a:buNone/>
            </a:pPr>
            <a:r>
              <a:rPr lang="en-US" sz="1000" dirty="0">
                <a:solidFill>
                  <a:schemeClr val="bg2"/>
                </a:solidFill>
              </a:rPr>
              <a:t>Data: Cortez, Cerdeira, Almeida, Matos &amp; Reis (2009), UCI Wine Quality, DOI 10.24432/C56S3T</a:t>
            </a:r>
            <a:endParaRPr lang="en-US" sz="1000" dirty="0"/>
          </a:p>
        </p:txBody>
      </p:sp>
    </p:spTree>
  </p:cSld>
  <p:clrMapOvr>
    <a:masterClrMapping/>
  </p:clrMapOvr>
</p:sld>
</file>

<file path=ppt/theme/theme1.xml><?xml version="1.0" encoding="utf-8"?>
<a:theme xmlns:a="http://schemas.openxmlformats.org/drawingml/2006/main" name="Wine">
  <a:themeElements>
    <a:clrScheme name="Wine">
      <a:dk1>
        <a:srgbClr val="241519"/>
      </a:dk1>
      <a:lt1>
        <a:srgbClr val="FFFFFF"/>
      </a:lt1>
      <a:dk2>
        <a:srgbClr val="6B1E2E"/>
      </a:dk2>
      <a:lt2>
        <a:srgbClr val="F6ECEE"/>
      </a:lt2>
      <a:accent1>
        <a:srgbClr val="6B1E2E"/>
      </a:accent1>
      <a:accent2>
        <a:srgbClr val="C9A227"/>
      </a:accent2>
      <a:accent3>
        <a:srgbClr val="8E4A5A"/>
      </a:accent3>
      <a:accent4>
        <a:srgbClr val="4F7A5A"/>
      </a:accent4>
      <a:accent5>
        <a:srgbClr val="A33B4E"/>
      </a:accent5>
      <a:accent6>
        <a:srgbClr val="7A7A7A"/>
      </a:accent6>
      <a:hlink>
        <a:srgbClr val="6B1E2E"/>
      </a:hlink>
      <a:folHlink>
        <a:srgbClr val="8E4A5A"/>
      </a:folHlink>
    </a:clrScheme>
    <a:fontScheme name="W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1237</Words>
  <Application>Microsoft Office PowerPoint</Application>
  <PresentationFormat>On-screen Show (16:9)</PresentationFormat>
  <Paragraphs>177</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Cambria</vt:lpstr>
      <vt:lpstr>Wine</vt:lpstr>
      <vt:lpstr>Wine Quality Prediction Using Machine Learning</vt:lpstr>
      <vt:lpstr>Problem Statement</vt:lpstr>
      <vt:lpstr>Dataset</vt:lpstr>
      <vt:lpstr>Understanding and Preparing the Data</vt:lpstr>
      <vt:lpstr>Predictive Modelling Approach</vt:lpstr>
      <vt:lpstr>Model Development</vt:lpstr>
      <vt:lpstr>Evaluation</vt:lpstr>
      <vt:lpstr>Results and Interpretation</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Vansh Gupta</cp:lastModifiedBy>
  <cp:revision>2</cp:revision>
  <dcterms:created xsi:type="dcterms:W3CDTF">2026-10-23T03:25:36Z</dcterms:created>
  <dcterms:modified xsi:type="dcterms:W3CDTF">2026-10-23T03:28:33Z</dcterms:modified>
</cp:coreProperties>
</file>